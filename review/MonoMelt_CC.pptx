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78" r:id="rId5"/>
    <p:sldId id="273" r:id="rId6"/>
    <p:sldId id="276" r:id="rId7"/>
    <p:sldId id="277" r:id="rId8"/>
    <p:sldId id="261" r:id="rId9"/>
    <p:sldId id="264" r:id="rId10"/>
    <p:sldId id="265" r:id="rId11"/>
    <p:sldId id="266" r:id="rId12"/>
    <p:sldId id="262" r:id="rId13"/>
    <p:sldId id="282" r:id="rId14"/>
    <p:sldId id="268" r:id="rId15"/>
    <p:sldId id="279" r:id="rId16"/>
    <p:sldId id="280" r:id="rId17"/>
    <p:sldId id="281" r:id="rId18"/>
    <p:sldId id="269" r:id="rId19"/>
  </p:sldIdLst>
  <p:sldSz cx="18288000" cy="10287000"/>
  <p:notesSz cx="6858000" cy="9144000"/>
  <p:embeddedFontLst>
    <p:embeddedFont>
      <p:font typeface="Aptos SemiBold" panose="020B0004020202020204" pitchFamily="34" charset="0"/>
      <p:bold r:id="rId20"/>
      <p:boldItalic r:id="rId21"/>
    </p:embeddedFont>
    <p:embeddedFont>
      <p:font typeface="Cambria" panose="02040503050406030204" pitchFamily="18" charset="0"/>
      <p:regular r:id="rId22"/>
      <p:bold r:id="rId23"/>
      <p:italic r:id="rId24"/>
      <p:boldItalic r:id="rId25"/>
    </p:embeddedFont>
    <p:embeddedFont>
      <p:font typeface="Comic Sans MS" panose="030F0702030302020204" pitchFamily="66" charset="0"/>
      <p:regular r:id="rId26"/>
      <p:bold r:id="rId27"/>
      <p:italic r:id="rId28"/>
      <p:boldItalic r:id="rId29"/>
    </p:embeddedFont>
    <p:embeddedFont>
      <p:font typeface="Open Sauce" panose="020B0604020202020204" charset="0"/>
      <p:regular r:id="rId30"/>
    </p:embeddedFont>
    <p:embeddedFont>
      <p:font typeface="Open Sauce Bold" panose="020B0604020202020204" charset="0"/>
      <p:regular r:id="rId31"/>
    </p:embeddedFont>
    <p:embeddedFont>
      <p:font typeface="Open Sauce Heavy"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Rahul-8283/chatverse-ai-backend" TargetMode="External"/><Relationship Id="rId3" Type="http://schemas.openxmlformats.org/officeDocument/2006/relationships/image" Target="../media/image5.png"/><Relationship Id="rId7" Type="http://schemas.openxmlformats.org/officeDocument/2006/relationships/hyperlink" Target="https://github.com/Tetra4ge/MonoMelt/tree/main/Output/blueprint-8fa43e51-9771-491d-b313-42f145770785/blueprint" TargetMode="External"/><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hyperlink" Target="https://github.com/Tetra4ge/MonoMelt/tree/main/Images" TargetMode="External"/><Relationship Id="rId5" Type="http://schemas.openxmlformats.org/officeDocument/2006/relationships/hyperlink" Target="https://github.com/tetra4ge/monomelt" TargetMode="Externa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pic>
        <p:nvPicPr>
          <p:cNvPr id="15" name="Picture 14" descr="Logo">
            <a:extLst>
              <a:ext uri="{FF2B5EF4-FFF2-40B4-BE49-F238E27FC236}">
                <a16:creationId xmlns:a16="http://schemas.microsoft.com/office/drawing/2014/main" id="{1F1C43FA-1E97-B8DD-1959-BE062DB7A2BB}"/>
              </a:ext>
            </a:extLst>
          </p:cNvPr>
          <p:cNvPicPr>
            <a:picLocks noChangeAspect="1"/>
          </p:cNvPicPr>
          <p:nvPr/>
        </p:nvPicPr>
        <p:blipFill>
          <a:blip r:embed="rId2"/>
          <a:stretch>
            <a:fillRect/>
          </a:stretch>
        </p:blipFill>
        <p:spPr>
          <a:xfrm>
            <a:off x="5643746" y="2021636"/>
            <a:ext cx="6986387" cy="1452523"/>
          </a:xfrm>
          <a:prstGeom prst="rect">
            <a:avLst/>
          </a:prstGeom>
        </p:spPr>
      </p:pic>
      <p:sp>
        <p:nvSpPr>
          <p:cNvPr id="2" name="Freeform 2"/>
          <p:cNvSpPr/>
          <p:nvPr/>
        </p:nvSpPr>
        <p:spPr>
          <a:xfrm rot="-1977201">
            <a:off x="8302125" y="-801031"/>
            <a:ext cx="12791303" cy="9442307"/>
          </a:xfrm>
          <a:custGeom>
            <a:avLst/>
            <a:gdLst/>
            <a:ahLst/>
            <a:cxnLst/>
            <a:rect l="l" t="t" r="r" b="b"/>
            <a:pathLst>
              <a:path w="12791303" h="9442307">
                <a:moveTo>
                  <a:pt x="0" y="0"/>
                </a:moveTo>
                <a:lnTo>
                  <a:pt x="12791302" y="0"/>
                </a:lnTo>
                <a:lnTo>
                  <a:pt x="12791302" y="9442307"/>
                </a:lnTo>
                <a:lnTo>
                  <a:pt x="0" y="9442307"/>
                </a:lnTo>
                <a:lnTo>
                  <a:pt x="0" y="0"/>
                </a:lnTo>
                <a:close/>
              </a:path>
            </a:pathLst>
          </a:custGeom>
          <a:blipFill>
            <a:blip r:embed="rId3">
              <a:alphaModFix amt="42000"/>
            </a:blip>
            <a:stretch>
              <a:fillRect/>
            </a:stretch>
          </a:blipFill>
        </p:spPr>
      </p:sp>
      <p:sp>
        <p:nvSpPr>
          <p:cNvPr id="3" name="Freeform 3"/>
          <p:cNvSpPr/>
          <p:nvPr/>
        </p:nvSpPr>
        <p:spPr>
          <a:xfrm rot="10940478">
            <a:off x="-1176524" y="-1165087"/>
            <a:ext cx="6017764" cy="3599717"/>
          </a:xfrm>
          <a:custGeom>
            <a:avLst/>
            <a:gdLst/>
            <a:ahLst/>
            <a:cxnLst/>
            <a:rect l="l" t="t" r="r" b="b"/>
            <a:pathLst>
              <a:path w="6017764" h="3599717">
                <a:moveTo>
                  <a:pt x="0" y="0"/>
                </a:moveTo>
                <a:lnTo>
                  <a:pt x="6017764" y="0"/>
                </a:lnTo>
                <a:lnTo>
                  <a:pt x="6017764" y="3599717"/>
                </a:lnTo>
                <a:lnTo>
                  <a:pt x="0" y="3599717"/>
                </a:lnTo>
                <a:lnTo>
                  <a:pt x="0" y="0"/>
                </a:lnTo>
                <a:close/>
              </a:path>
            </a:pathLst>
          </a:custGeom>
          <a:blipFill>
            <a:blip r:embed="rId4">
              <a:alphaModFix amt="12000"/>
            </a:blip>
            <a:stretch>
              <a:fillRect/>
            </a:stretch>
          </a:blipFill>
        </p:spPr>
      </p:sp>
      <p:sp>
        <p:nvSpPr>
          <p:cNvPr id="4" name="Freeform 4"/>
          <p:cNvSpPr/>
          <p:nvPr/>
        </p:nvSpPr>
        <p:spPr>
          <a:xfrm>
            <a:off x="187663" y="4484373"/>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5"/>
                </a:ext>
              </a:extLst>
            </a:blip>
            <a:stretch>
              <a:fillRect/>
            </a:stretch>
          </a:blipFill>
        </p:spPr>
      </p:sp>
      <p:sp>
        <p:nvSpPr>
          <p:cNvPr id="9" name="AutoShape 9"/>
          <p:cNvSpPr/>
          <p:nvPr/>
        </p:nvSpPr>
        <p:spPr>
          <a:xfrm>
            <a:off x="1045163" y="1480091"/>
            <a:ext cx="16214137" cy="0"/>
          </a:xfrm>
          <a:prstGeom prst="line">
            <a:avLst/>
          </a:prstGeom>
          <a:ln w="19050" cap="flat">
            <a:solidFill>
              <a:srgbClr val="424242"/>
            </a:solidFill>
            <a:prstDash val="solid"/>
            <a:headEnd type="none" w="sm" len="sm"/>
            <a:tailEnd type="none" w="sm" len="sm"/>
          </a:ln>
        </p:spPr>
      </p:sp>
      <p:sp>
        <p:nvSpPr>
          <p:cNvPr id="11" name="TextBox 11"/>
          <p:cNvSpPr txBox="1"/>
          <p:nvPr/>
        </p:nvSpPr>
        <p:spPr>
          <a:xfrm>
            <a:off x="2102246" y="635168"/>
            <a:ext cx="13881446" cy="1256754"/>
          </a:xfrm>
          <a:prstGeom prst="rect">
            <a:avLst/>
          </a:prstGeom>
        </p:spPr>
        <p:txBody>
          <a:bodyPr wrap="square" lIns="0" tIns="0" rIns="0" bIns="0" rtlCol="0" anchor="t">
            <a:spAutoFit/>
          </a:bodyPr>
          <a:lstStyle/>
          <a:p>
            <a:pPr algn="ctr">
              <a:lnSpc>
                <a:spcPts val="4868"/>
              </a:lnSpc>
            </a:pPr>
            <a:r>
              <a:rPr lang="en-US" sz="4400" b="1" spc="-163">
                <a:solidFill>
                  <a:srgbClr val="424242"/>
                </a:solidFill>
                <a:latin typeface="Open Sauce Heavy"/>
                <a:sym typeface="Open Sauce Heavy"/>
              </a:rPr>
              <a:t>22AIE305   </a:t>
            </a:r>
            <a:r>
              <a:rPr lang="en-US" sz="4400" b="1" spc="-163">
                <a:solidFill>
                  <a:srgbClr val="424242"/>
                </a:solidFill>
                <a:latin typeface="Open Sauce Heavy"/>
                <a:ea typeface="Calibri"/>
                <a:cs typeface="Calibri"/>
                <a:sym typeface="Open Sauce Heavy"/>
              </a:rPr>
              <a:t>I</a:t>
            </a:r>
            <a:r>
              <a:rPr lang="en-US" sz="4400" b="1" spc="-163">
                <a:solidFill>
                  <a:srgbClr val="424242"/>
                </a:solidFill>
                <a:latin typeface="Calibri"/>
                <a:ea typeface="Calibri"/>
                <a:cs typeface="Calibri"/>
                <a:sym typeface="Open Sauce Heavy"/>
              </a:rPr>
              <a:t>NTRODUCTION TO CLOUD COMPUTING</a:t>
            </a:r>
            <a:endParaRPr lang="en-US" sz="4400" b="1" spc="-163">
              <a:solidFill>
                <a:srgbClr val="000000"/>
              </a:solidFill>
              <a:latin typeface="Calibri"/>
              <a:ea typeface="Calibri"/>
              <a:cs typeface="Calibri"/>
            </a:endParaRPr>
          </a:p>
          <a:p>
            <a:pPr algn="ctr">
              <a:lnSpc>
                <a:spcPts val="4868"/>
              </a:lnSpc>
            </a:pPr>
            <a:endParaRPr lang="en-US" sz="4400" b="1" spc="-163">
              <a:solidFill>
                <a:srgbClr val="424242"/>
              </a:solidFill>
              <a:latin typeface="Open Sauce Heavy"/>
              <a:ea typeface="Calibri"/>
              <a:cs typeface="Calibri"/>
            </a:endParaRPr>
          </a:p>
        </p:txBody>
      </p:sp>
      <p:sp>
        <p:nvSpPr>
          <p:cNvPr id="16" name="TextBox 15">
            <a:extLst>
              <a:ext uri="{FF2B5EF4-FFF2-40B4-BE49-F238E27FC236}">
                <a16:creationId xmlns:a16="http://schemas.microsoft.com/office/drawing/2014/main" id="{87218600-F357-FC64-F48F-ED91B78125FA}"/>
              </a:ext>
            </a:extLst>
          </p:cNvPr>
          <p:cNvSpPr txBox="1"/>
          <p:nvPr/>
        </p:nvSpPr>
        <p:spPr>
          <a:xfrm>
            <a:off x="941294" y="3916455"/>
            <a:ext cx="16623926"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b="1">
                <a:latin typeface="Aptos SemiBold"/>
              </a:rPr>
              <a:t>Integrating Monoliths to Cloud-Native Microservices Transformation Intelligence Platform</a:t>
            </a:r>
            <a:endParaRPr lang="en-US"/>
          </a:p>
          <a:p>
            <a:pPr algn="ctr"/>
            <a:endParaRPr lang="en-US" sz="4000">
              <a:latin typeface="Aptos SemiBold"/>
            </a:endParaRPr>
          </a:p>
        </p:txBody>
      </p:sp>
      <p:sp>
        <p:nvSpPr>
          <p:cNvPr id="17" name="TextBox 16">
            <a:extLst>
              <a:ext uri="{FF2B5EF4-FFF2-40B4-BE49-F238E27FC236}">
                <a16:creationId xmlns:a16="http://schemas.microsoft.com/office/drawing/2014/main" id="{62CAB757-39CB-FF15-7A85-B03136CCE104}"/>
              </a:ext>
            </a:extLst>
          </p:cNvPr>
          <p:cNvSpPr txBox="1"/>
          <p:nvPr/>
        </p:nvSpPr>
        <p:spPr>
          <a:xfrm>
            <a:off x="11914647" y="8143087"/>
            <a:ext cx="6701860" cy="20159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a:ea typeface="Calibri"/>
                <a:cs typeface="Calibri"/>
              </a:rPr>
              <a:t>Team Members:</a:t>
            </a:r>
            <a:endParaRPr lang="en-US">
              <a:ea typeface="Calibri"/>
              <a:cs typeface="Calibri"/>
            </a:endParaRPr>
          </a:p>
          <a:p>
            <a:pPr marL="342900" indent="-342900">
              <a:buFont typeface="Arial"/>
              <a:buChar char="•"/>
            </a:pPr>
            <a:r>
              <a:rPr lang="en-US" sz="2500">
                <a:ea typeface="Calibri"/>
                <a:cs typeface="Calibri"/>
              </a:rPr>
              <a:t>G Prajwal Priyadarshan  (CB.SC.U4AIE24214)</a:t>
            </a:r>
          </a:p>
          <a:p>
            <a:pPr marL="342900" indent="-342900">
              <a:buFont typeface="Arial"/>
              <a:buChar char="•"/>
            </a:pPr>
            <a:r>
              <a:rPr lang="en-US" sz="2500">
                <a:ea typeface="Calibri"/>
                <a:cs typeface="Calibri"/>
              </a:rPr>
              <a:t>Kabilan K (CB.SC.U4AIE24224)</a:t>
            </a:r>
          </a:p>
          <a:p>
            <a:pPr marL="342900" indent="-342900">
              <a:buFont typeface="Arial"/>
              <a:buChar char="•"/>
            </a:pPr>
            <a:r>
              <a:rPr lang="en-US" sz="2500">
                <a:ea typeface="Calibri"/>
                <a:cs typeface="Calibri"/>
              </a:rPr>
              <a:t>Kishore B (CB.SC.U4AIE24227)</a:t>
            </a:r>
          </a:p>
          <a:p>
            <a:pPr marL="342900" indent="-342900">
              <a:buFont typeface="Arial"/>
              <a:buChar char="•"/>
            </a:pPr>
            <a:r>
              <a:rPr lang="en-US" sz="2500">
                <a:ea typeface="Calibri"/>
                <a:cs typeface="Calibri"/>
              </a:rPr>
              <a:t>Rahul L S (CB.SC.U4AIE24248)</a:t>
            </a:r>
          </a:p>
        </p:txBody>
      </p:sp>
      <p:sp>
        <p:nvSpPr>
          <p:cNvPr id="18" name="TextBox 17">
            <a:extLst>
              <a:ext uri="{FF2B5EF4-FFF2-40B4-BE49-F238E27FC236}">
                <a16:creationId xmlns:a16="http://schemas.microsoft.com/office/drawing/2014/main" id="{7D4DCCBD-621E-CF82-F324-F831EAEE9A89}"/>
              </a:ext>
            </a:extLst>
          </p:cNvPr>
          <p:cNvSpPr txBox="1"/>
          <p:nvPr/>
        </p:nvSpPr>
        <p:spPr>
          <a:xfrm>
            <a:off x="5641360" y="5945050"/>
            <a:ext cx="7006478"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000">
                <a:latin typeface="Comic Sans MS"/>
                <a:ea typeface="STXingkai"/>
                <a:cs typeface="Calibri"/>
              </a:rPr>
              <a:t>Team 7 : </a:t>
            </a:r>
            <a:r>
              <a:rPr lang="en-US" sz="5000" err="1">
                <a:latin typeface="Comic Sans MS"/>
                <a:ea typeface="STXingkai"/>
                <a:cs typeface="Calibri"/>
              </a:rPr>
              <a:t>MonoMelt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p:cNvSpPr/>
          <p:nvPr/>
        </p:nvSpPr>
        <p:spPr>
          <a:xfrm rot="1925852">
            <a:off x="-2330235" y="2657262"/>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3">
              <a:alphaModFix amt="25000"/>
            </a:blip>
            <a:stretch>
              <a:fillRect/>
            </a:stretch>
          </a:blipFill>
        </p:spPr>
      </p:sp>
      <p:sp>
        <p:nvSpPr>
          <p:cNvPr id="5" name="Freeform 5"/>
          <p:cNvSpPr/>
          <p:nvPr/>
        </p:nvSpPr>
        <p:spPr>
          <a:xfrm>
            <a:off x="10343327" y="-1437860"/>
            <a:ext cx="12858845" cy="4933121"/>
          </a:xfrm>
          <a:custGeom>
            <a:avLst/>
            <a:gdLst/>
            <a:ahLst/>
            <a:cxnLst/>
            <a:rect l="l" t="t" r="r" b="b"/>
            <a:pathLst>
              <a:path w="12858845" h="4933121">
                <a:moveTo>
                  <a:pt x="0" y="0"/>
                </a:moveTo>
                <a:lnTo>
                  <a:pt x="12858845" y="0"/>
                </a:lnTo>
                <a:lnTo>
                  <a:pt x="12858845" y="4933120"/>
                </a:lnTo>
                <a:lnTo>
                  <a:pt x="0" y="4933120"/>
                </a:lnTo>
                <a:lnTo>
                  <a:pt x="0" y="0"/>
                </a:lnTo>
                <a:close/>
              </a:path>
            </a:pathLst>
          </a:custGeom>
          <a:blipFill>
            <a:blip r:embed="rId4">
              <a:alphaModFix amt="25000"/>
            </a:blip>
            <a:stretch>
              <a:fillRect/>
            </a:stretch>
          </a:blipFill>
        </p:spPr>
      </p:sp>
      <p:sp>
        <p:nvSpPr>
          <p:cNvPr id="14" name="TextBox 14"/>
          <p:cNvSpPr txBox="1"/>
          <p:nvPr/>
        </p:nvSpPr>
        <p:spPr>
          <a:xfrm>
            <a:off x="1372967" y="1272335"/>
            <a:ext cx="7063652" cy="754309"/>
          </a:xfrm>
          <a:prstGeom prst="rect">
            <a:avLst/>
          </a:prstGeom>
        </p:spPr>
        <p:txBody>
          <a:bodyPr wrap="square" lIns="0" tIns="0" rIns="0" bIns="0" rtlCol="0" anchor="t">
            <a:spAutoFit/>
          </a:bodyPr>
          <a:lstStyle/>
          <a:p>
            <a:pPr>
              <a:lnSpc>
                <a:spcPts val="4868"/>
              </a:lnSpc>
            </a:pPr>
            <a:r>
              <a:rPr lang="en-US" sz="8800" b="1" spc="-163">
                <a:solidFill>
                  <a:srgbClr val="424242"/>
                </a:solidFill>
                <a:latin typeface="Open Sauce Heavy"/>
              </a:rPr>
              <a:t>Abstract</a:t>
            </a:r>
            <a:endParaRPr lang="en-US" sz="8800">
              <a:latin typeface="Open Sauce Heavy"/>
              <a:ea typeface="Calibri"/>
              <a:cs typeface="Calibri"/>
            </a:endParaRPr>
          </a:p>
        </p:txBody>
      </p:sp>
      <p:sp>
        <p:nvSpPr>
          <p:cNvPr id="31" name="TextBox 30">
            <a:extLst>
              <a:ext uri="{FF2B5EF4-FFF2-40B4-BE49-F238E27FC236}">
                <a16:creationId xmlns:a16="http://schemas.microsoft.com/office/drawing/2014/main" id="{6DD3AE22-C041-A711-7986-8C406CA25DB3}"/>
              </a:ext>
            </a:extLst>
          </p:cNvPr>
          <p:cNvSpPr txBox="1"/>
          <p:nvPr/>
        </p:nvSpPr>
        <p:spPr>
          <a:xfrm>
            <a:off x="1378324" y="2762250"/>
            <a:ext cx="15514543" cy="57554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500"/>
              <a:t>AI powered platform that automates the transformation of legacy monolithic applications into scalable microservice architectures. The system analyzes source code using AST parsing, maps dependencies through a Neo4j graph database, and leverages Large Language Models to generate intelligent decomposition strategies. It provides multiple migration approaches, identifies architectural bottlenecks, and creates a detailed modernization roadmap with cost estimates and implementation phases. To accelerate adoption, </a:t>
            </a:r>
            <a:r>
              <a:rPr lang="en-US" sz="3500" err="1"/>
              <a:t>MonoMELT</a:t>
            </a:r>
            <a:r>
              <a:rPr lang="en-US" sz="3500"/>
              <a:t> also generates production ready Infrastructure as Code, Docker configurations, and microservice boilerplates. By combining graph analytics and AI driven decision making, </a:t>
            </a:r>
            <a:r>
              <a:rPr lang="en-US" sz="3500" err="1"/>
              <a:t>MonoMELT</a:t>
            </a:r>
            <a:r>
              <a:rPr lang="en-US" sz="3500"/>
              <a:t> reduces migration risk and enables faster, more reliable software modernization.</a:t>
            </a:r>
            <a:endParaRPr lang="en-US" sz="3500">
              <a:ea typeface="Calibri"/>
              <a:cs typeface="Calibri"/>
            </a:endParaRPr>
          </a:p>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sp>
        <p:nvSpPr>
          <p:cNvPr id="2" name="Freeform 2"/>
          <p:cNvSpPr/>
          <p:nvPr/>
        </p:nvSpPr>
        <p:spPr>
          <a:xfrm rot="1925852">
            <a:off x="11466076" y="-4040445"/>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2">
              <a:alphaModFix amt="20999"/>
            </a:blip>
            <a:stretch>
              <a:fillRect/>
            </a:stretch>
          </a:blipFill>
        </p:spPr>
      </p:sp>
      <p:sp>
        <p:nvSpPr>
          <p:cNvPr id="4" name="Freeform 4"/>
          <p:cNvSpPr/>
          <p:nvPr/>
        </p:nvSpPr>
        <p:spPr>
          <a:xfrm>
            <a:off x="-1964581" y="6163012"/>
            <a:ext cx="12299674" cy="5143500"/>
          </a:xfrm>
          <a:custGeom>
            <a:avLst/>
            <a:gdLst/>
            <a:ahLst/>
            <a:cxnLst/>
            <a:rect l="l" t="t" r="r" b="b"/>
            <a:pathLst>
              <a:path w="12299674" h="5143500">
                <a:moveTo>
                  <a:pt x="0" y="0"/>
                </a:moveTo>
                <a:lnTo>
                  <a:pt x="12299674" y="0"/>
                </a:lnTo>
                <a:lnTo>
                  <a:pt x="12299674" y="5143500"/>
                </a:lnTo>
                <a:lnTo>
                  <a:pt x="0" y="5143500"/>
                </a:lnTo>
                <a:lnTo>
                  <a:pt x="0" y="0"/>
                </a:lnTo>
                <a:close/>
              </a:path>
            </a:pathLst>
          </a:custGeom>
          <a:blipFill>
            <a:blip r:embed="rId3">
              <a:alphaModFix amt="10999"/>
            </a:blip>
            <a:stretch>
              <a:fillRect/>
            </a:stretch>
          </a:blipFill>
        </p:spPr>
      </p:sp>
      <p:grpSp>
        <p:nvGrpSpPr>
          <p:cNvPr id="5" name="Group 5"/>
          <p:cNvGrpSpPr/>
          <p:nvPr/>
        </p:nvGrpSpPr>
        <p:grpSpPr>
          <a:xfrm>
            <a:off x="863750" y="2195366"/>
            <a:ext cx="16580695" cy="7398924"/>
            <a:chOff x="0" y="-28575"/>
            <a:chExt cx="4309041" cy="1335036"/>
          </a:xfrm>
        </p:grpSpPr>
        <p:sp>
          <p:nvSpPr>
            <p:cNvPr id="6" name="Freeform 6"/>
            <p:cNvSpPr/>
            <p:nvPr/>
          </p:nvSpPr>
          <p:spPr>
            <a:xfrm>
              <a:off x="0" y="0"/>
              <a:ext cx="4309040" cy="1306461"/>
            </a:xfrm>
            <a:custGeom>
              <a:avLst/>
              <a:gdLst/>
              <a:ahLst/>
              <a:cxnLst/>
              <a:rect l="l" t="t" r="r" b="b"/>
              <a:pathLst>
                <a:path w="4309040" h="1306461">
                  <a:moveTo>
                    <a:pt x="44007" y="0"/>
                  </a:moveTo>
                  <a:lnTo>
                    <a:pt x="4265033" y="0"/>
                  </a:lnTo>
                  <a:cubicBezTo>
                    <a:pt x="4276704" y="0"/>
                    <a:pt x="4287898" y="4636"/>
                    <a:pt x="4296151" y="12889"/>
                  </a:cubicBezTo>
                  <a:cubicBezTo>
                    <a:pt x="4304404" y="21142"/>
                    <a:pt x="4309040" y="32336"/>
                    <a:pt x="4309040" y="44007"/>
                  </a:cubicBezTo>
                  <a:lnTo>
                    <a:pt x="4309040" y="1262453"/>
                  </a:lnTo>
                  <a:cubicBezTo>
                    <a:pt x="4309040" y="1274125"/>
                    <a:pt x="4304404" y="1285318"/>
                    <a:pt x="4296151" y="1293571"/>
                  </a:cubicBezTo>
                  <a:cubicBezTo>
                    <a:pt x="4287898" y="1301824"/>
                    <a:pt x="4276704" y="1306461"/>
                    <a:pt x="4265033" y="1306461"/>
                  </a:cubicBezTo>
                  <a:lnTo>
                    <a:pt x="44007" y="1306461"/>
                  </a:lnTo>
                  <a:cubicBezTo>
                    <a:pt x="32336" y="1306461"/>
                    <a:pt x="21142" y="1301824"/>
                    <a:pt x="12889" y="1293571"/>
                  </a:cubicBezTo>
                  <a:cubicBezTo>
                    <a:pt x="4636" y="1285318"/>
                    <a:pt x="0" y="1274125"/>
                    <a:pt x="0" y="1262453"/>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id="7" name="TextBox 7"/>
            <p:cNvSpPr txBox="1"/>
            <p:nvPr/>
          </p:nvSpPr>
          <p:spPr>
            <a:xfrm>
              <a:off x="0" y="-28575"/>
              <a:ext cx="4309041" cy="1335036"/>
            </a:xfrm>
            <a:prstGeom prst="rect">
              <a:avLst/>
            </a:prstGeom>
          </p:spPr>
          <p:txBody>
            <a:bodyPr lIns="50800" tIns="50800" rIns="50800" bIns="50800" rtlCol="0" anchor="ctr"/>
            <a:lstStyle/>
            <a:p>
              <a:pPr algn="ctr">
                <a:lnSpc>
                  <a:spcPts val="2015"/>
                </a:lnSpc>
              </a:pPr>
              <a:endParaRPr/>
            </a:p>
          </p:txBody>
        </p:sp>
      </p:grpSp>
      <p:sp>
        <p:nvSpPr>
          <p:cNvPr id="8" name="TextBox 8"/>
          <p:cNvSpPr txBox="1"/>
          <p:nvPr/>
        </p:nvSpPr>
        <p:spPr>
          <a:xfrm>
            <a:off x="413239" y="446150"/>
            <a:ext cx="9124739" cy="1226554"/>
          </a:xfrm>
          <a:prstGeom prst="rect">
            <a:avLst/>
          </a:prstGeom>
        </p:spPr>
        <p:txBody>
          <a:bodyPr wrap="square" lIns="0" tIns="0" rIns="0" bIns="0" rtlCol="0" anchor="t">
            <a:spAutoFit/>
          </a:bodyPr>
          <a:lstStyle/>
          <a:p>
            <a:pPr algn="ctr">
              <a:lnSpc>
                <a:spcPts val="10307"/>
              </a:lnSpc>
            </a:pPr>
            <a:r>
              <a:rPr lang="en-US" sz="8000" b="1" spc="-515">
                <a:solidFill>
                  <a:srgbClr val="FFFFFF"/>
                </a:solidFill>
                <a:latin typeface="Open Sauce Heavy"/>
                <a:ea typeface="Open Sauce Heavy"/>
                <a:cs typeface="Open Sauce Heavy"/>
                <a:sym typeface="Open Sauce Heavy"/>
              </a:rPr>
              <a:t>Problem Statement</a:t>
            </a:r>
            <a:endParaRPr lang="en-US" sz="8000" b="1" spc="-515">
              <a:solidFill>
                <a:srgbClr val="FFFFFF"/>
              </a:solidFill>
              <a:latin typeface="Open Sauce Heavy"/>
              <a:ea typeface="Open Sauce Heavy"/>
              <a:cs typeface="Open Sauce Heavy"/>
            </a:endParaRPr>
          </a:p>
        </p:txBody>
      </p:sp>
      <p:sp>
        <p:nvSpPr>
          <p:cNvPr id="24" name="TextBox 23">
            <a:extLst>
              <a:ext uri="{FF2B5EF4-FFF2-40B4-BE49-F238E27FC236}">
                <a16:creationId xmlns:a16="http://schemas.microsoft.com/office/drawing/2014/main" id="{2DFD6A8C-DF04-7B04-FF61-037768E35DC5}"/>
              </a:ext>
            </a:extLst>
          </p:cNvPr>
          <p:cNvSpPr txBox="1"/>
          <p:nvPr/>
        </p:nvSpPr>
        <p:spPr>
          <a:xfrm>
            <a:off x="1421422" y="3033346"/>
            <a:ext cx="15474461"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chemeClr val="bg1"/>
                </a:solidFill>
                <a:ea typeface="+mn-lt"/>
                <a:cs typeface="+mn-lt"/>
              </a:rPr>
              <a:t>The Monolithic Bottleneck :</a:t>
            </a:r>
            <a:r>
              <a:rPr lang="en-US" sz="3000">
                <a:solidFill>
                  <a:schemeClr val="bg1"/>
                </a:solidFill>
                <a:ea typeface="+mn-lt"/>
                <a:cs typeface="+mn-lt"/>
              </a:rPr>
              <a:t> As applications grow, legacy monolithic architectures become severely tightly-coupled. This makes them incredibly difficult to scale, slow to deploy, and fragile, as a single bug can crash the entire system.</a:t>
            </a:r>
            <a:endParaRPr lang="en-US" sz="3000">
              <a:solidFill>
                <a:schemeClr val="bg1"/>
              </a:solidFill>
              <a:ea typeface="Calibri"/>
              <a:cs typeface="Calibri"/>
            </a:endParaRPr>
          </a:p>
          <a:p>
            <a:endParaRPr lang="en-US" sz="3000">
              <a:solidFill>
                <a:schemeClr val="bg1"/>
              </a:solidFill>
              <a:ea typeface="+mn-lt"/>
              <a:cs typeface="+mn-lt"/>
            </a:endParaRPr>
          </a:p>
          <a:p>
            <a:r>
              <a:rPr lang="en-US" sz="3000" b="1">
                <a:solidFill>
                  <a:schemeClr val="bg1"/>
                </a:solidFill>
                <a:ea typeface="+mn-lt"/>
                <a:cs typeface="+mn-lt"/>
              </a:rPr>
              <a:t>High-Risk, Manual Migrations :</a:t>
            </a:r>
            <a:r>
              <a:rPr lang="en-US" sz="3000">
                <a:solidFill>
                  <a:schemeClr val="bg1"/>
                </a:solidFill>
                <a:ea typeface="+mn-lt"/>
                <a:cs typeface="+mn-lt"/>
              </a:rPr>
              <a:t> Transitioning from a monolith to distributed microservices manually requires massive engineering effort, takes months of planning, and carries huge operational risk of breaking dependencies or creating a "distributed monolith."</a:t>
            </a:r>
          </a:p>
          <a:p>
            <a:endParaRPr lang="en-US" sz="3000">
              <a:solidFill>
                <a:schemeClr val="bg1"/>
              </a:solidFill>
              <a:ea typeface="Calibri"/>
              <a:cs typeface="Calibri"/>
            </a:endParaRPr>
          </a:p>
          <a:p>
            <a:r>
              <a:rPr lang="en-US" sz="3000" b="1">
                <a:solidFill>
                  <a:schemeClr val="bg1"/>
                </a:solidFill>
                <a:ea typeface="+mn-lt"/>
                <a:cs typeface="+mn-lt"/>
              </a:rPr>
              <a:t>Time-Consuming Infrastructure Configuration :</a:t>
            </a:r>
            <a:r>
              <a:rPr lang="en-US" sz="3000">
                <a:solidFill>
                  <a:schemeClr val="bg1"/>
                </a:solidFill>
                <a:ea typeface="+mn-lt"/>
                <a:cs typeface="+mn-lt"/>
              </a:rPr>
              <a:t> Even when teams successfully map out a new microservice architecture, manually writing the extensive boilerplate code, </a:t>
            </a:r>
            <a:r>
              <a:rPr lang="en-US" sz="3000" err="1">
                <a:solidFill>
                  <a:schemeClr val="bg1"/>
                </a:solidFill>
                <a:ea typeface="+mn-lt"/>
                <a:cs typeface="+mn-lt"/>
              </a:rPr>
              <a:t>Dockerfiles</a:t>
            </a:r>
            <a:r>
              <a:rPr lang="en-US" sz="3000">
                <a:solidFill>
                  <a:schemeClr val="bg1"/>
                </a:solidFill>
                <a:ea typeface="+mn-lt"/>
                <a:cs typeface="+mn-lt"/>
              </a:rPr>
              <a:t>, and Kubernetes deployment manifests from scratch for every single service is a highly repetitive, error-prone, and time-consuming process.</a:t>
            </a:r>
            <a:endParaRPr lang="en-US">
              <a:solidFill>
                <a:schemeClr val="bg1"/>
              </a:solidFill>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a:extLst>
            <a:ext uri="{FF2B5EF4-FFF2-40B4-BE49-F238E27FC236}">
              <a16:creationId xmlns:a16="http://schemas.microsoft.com/office/drawing/2014/main" id="{883DD301-B13E-0224-9C7D-0038AC1472F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2D3747-9EED-930B-12FE-AB944274955C}"/>
              </a:ext>
            </a:extLst>
          </p:cNvPr>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D48E5D37-E127-5BB2-26CA-9C94994EBC82}"/>
              </a:ext>
            </a:extLst>
          </p:cNvPr>
          <p:cNvSpPr/>
          <p:nvPr/>
        </p:nvSpPr>
        <p:spPr>
          <a:xfrm rot="1925852">
            <a:off x="-2330235" y="2657262"/>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3">
              <a:alphaModFix amt="25000"/>
            </a:blip>
            <a:stretch>
              <a:fillRect/>
            </a:stretch>
          </a:blipFill>
        </p:spPr>
      </p:sp>
      <p:sp>
        <p:nvSpPr>
          <p:cNvPr id="5" name="Freeform 5">
            <a:extLst>
              <a:ext uri="{FF2B5EF4-FFF2-40B4-BE49-F238E27FC236}">
                <a16:creationId xmlns:a16="http://schemas.microsoft.com/office/drawing/2014/main" id="{16DD0080-4113-E0E4-4586-AF2B05ACA598}"/>
              </a:ext>
            </a:extLst>
          </p:cNvPr>
          <p:cNvSpPr/>
          <p:nvPr/>
        </p:nvSpPr>
        <p:spPr>
          <a:xfrm>
            <a:off x="10343327" y="-1437860"/>
            <a:ext cx="12858845" cy="4933121"/>
          </a:xfrm>
          <a:custGeom>
            <a:avLst/>
            <a:gdLst/>
            <a:ahLst/>
            <a:cxnLst/>
            <a:rect l="l" t="t" r="r" b="b"/>
            <a:pathLst>
              <a:path w="12858845" h="4933121">
                <a:moveTo>
                  <a:pt x="0" y="0"/>
                </a:moveTo>
                <a:lnTo>
                  <a:pt x="12858845" y="0"/>
                </a:lnTo>
                <a:lnTo>
                  <a:pt x="12858845" y="4933120"/>
                </a:lnTo>
                <a:lnTo>
                  <a:pt x="0" y="4933120"/>
                </a:lnTo>
                <a:lnTo>
                  <a:pt x="0" y="0"/>
                </a:lnTo>
                <a:close/>
              </a:path>
            </a:pathLst>
          </a:custGeom>
          <a:blipFill>
            <a:blip r:embed="rId4">
              <a:alphaModFix amt="25000"/>
            </a:blip>
            <a:stretch>
              <a:fillRect/>
            </a:stretch>
          </a:blipFill>
        </p:spPr>
      </p:sp>
      <p:sp>
        <p:nvSpPr>
          <p:cNvPr id="14" name="TextBox 14">
            <a:extLst>
              <a:ext uri="{FF2B5EF4-FFF2-40B4-BE49-F238E27FC236}">
                <a16:creationId xmlns:a16="http://schemas.microsoft.com/office/drawing/2014/main" id="{748BB966-0770-070E-F4DA-9567B86D6552}"/>
              </a:ext>
            </a:extLst>
          </p:cNvPr>
          <p:cNvSpPr txBox="1"/>
          <p:nvPr/>
        </p:nvSpPr>
        <p:spPr>
          <a:xfrm>
            <a:off x="1473820" y="4381967"/>
            <a:ext cx="15333593" cy="760978"/>
          </a:xfrm>
          <a:prstGeom prst="rect">
            <a:avLst/>
          </a:prstGeom>
        </p:spPr>
        <p:txBody>
          <a:bodyPr wrap="square" lIns="0" tIns="0" rIns="0" bIns="0" rtlCol="0" anchor="t">
            <a:spAutoFit/>
          </a:bodyPr>
          <a:lstStyle/>
          <a:p>
            <a:pPr algn="ctr">
              <a:lnSpc>
                <a:spcPts val="4868"/>
              </a:lnSpc>
            </a:pPr>
            <a:r>
              <a:rPr lang="en-US" sz="8800" b="1" spc="-163">
                <a:solidFill>
                  <a:srgbClr val="424242"/>
                </a:solidFill>
                <a:latin typeface="Open Sauce Heavy"/>
              </a:rPr>
              <a:t>Literature Review</a:t>
            </a:r>
            <a:endParaRPr lang="en-US">
              <a:ea typeface="Calibri"/>
              <a:cs typeface="Calibri"/>
            </a:endParaRPr>
          </a:p>
        </p:txBody>
      </p:sp>
    </p:spTree>
    <p:extLst>
      <p:ext uri="{BB962C8B-B14F-4D97-AF65-F5344CB8AC3E}">
        <p14:creationId xmlns:p14="http://schemas.microsoft.com/office/powerpoint/2010/main" val="3479424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a:extLst>
            <a:ext uri="{FF2B5EF4-FFF2-40B4-BE49-F238E27FC236}">
              <a16:creationId xmlns:a16="http://schemas.microsoft.com/office/drawing/2014/main" id="{2D027777-EB90-E558-5F63-14369322CCE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D683A8-D8EC-19A1-4349-3FFCC970D5D4}"/>
              </a:ext>
            </a:extLst>
          </p:cNvPr>
          <p:cNvSpPr/>
          <p:nvPr/>
        </p:nvSpPr>
        <p:spPr>
          <a:xfrm rot="2700000" flipH="1">
            <a:off x="-2109444" y="5046072"/>
            <a:ext cx="9290530" cy="6858100"/>
          </a:xfrm>
          <a:custGeom>
            <a:avLst/>
            <a:gdLst/>
            <a:ahLst/>
            <a:cxnLst/>
            <a:rect l="l" t="t" r="r" b="b"/>
            <a:pathLst>
              <a:path w="9290530" h="6858100">
                <a:moveTo>
                  <a:pt x="9290530" y="0"/>
                </a:moveTo>
                <a:lnTo>
                  <a:pt x="0" y="0"/>
                </a:lnTo>
                <a:lnTo>
                  <a:pt x="0" y="6858101"/>
                </a:lnTo>
                <a:lnTo>
                  <a:pt x="9290530" y="6858101"/>
                </a:lnTo>
                <a:lnTo>
                  <a:pt x="9290530" y="0"/>
                </a:lnTo>
                <a:close/>
              </a:path>
            </a:pathLst>
          </a:custGeom>
          <a:blipFill>
            <a:blip r:embed="rId2">
              <a:alphaModFix amt="24000"/>
            </a:blip>
            <a:stretch>
              <a:fillRect/>
            </a:stretch>
          </a:blipFill>
        </p:spPr>
      </p:sp>
      <p:graphicFrame>
        <p:nvGraphicFramePr>
          <p:cNvPr id="20" name="Table 19">
            <a:extLst>
              <a:ext uri="{FF2B5EF4-FFF2-40B4-BE49-F238E27FC236}">
                <a16:creationId xmlns:a16="http://schemas.microsoft.com/office/drawing/2014/main" id="{70D716A7-01BF-3DB8-6AC0-0B8B043C14C5}"/>
              </a:ext>
            </a:extLst>
          </p:cNvPr>
          <p:cNvGraphicFramePr>
            <a:graphicFrameLocks noGrp="1"/>
          </p:cNvGraphicFramePr>
          <p:nvPr>
            <p:extLst>
              <p:ext uri="{D42A27DB-BD31-4B8C-83A1-F6EECF244321}">
                <p14:modId xmlns:p14="http://schemas.microsoft.com/office/powerpoint/2010/main" val="2071604821"/>
              </p:ext>
            </p:extLst>
          </p:nvPr>
        </p:nvGraphicFramePr>
        <p:xfrm>
          <a:off x="-30480" y="0"/>
          <a:ext cx="18321659" cy="10291794"/>
        </p:xfrm>
        <a:graphic>
          <a:graphicData uri="http://schemas.openxmlformats.org/drawingml/2006/table">
            <a:tbl>
              <a:tblPr firstRow="1" bandRow="1">
                <a:tableStyleId>{5940675A-B579-460E-94D1-54222C63F5DA}</a:tableStyleId>
              </a:tblPr>
              <a:tblGrid>
                <a:gridCol w="1405294">
                  <a:extLst>
                    <a:ext uri="{9D8B030D-6E8A-4147-A177-3AD203B41FA5}">
                      <a16:colId xmlns:a16="http://schemas.microsoft.com/office/drawing/2014/main" val="1574016792"/>
                    </a:ext>
                  </a:extLst>
                </a:gridCol>
                <a:gridCol w="3711998">
                  <a:extLst>
                    <a:ext uri="{9D8B030D-6E8A-4147-A177-3AD203B41FA5}">
                      <a16:colId xmlns:a16="http://schemas.microsoft.com/office/drawing/2014/main" val="3153291198"/>
                    </a:ext>
                  </a:extLst>
                </a:gridCol>
                <a:gridCol w="3581904">
                  <a:extLst>
                    <a:ext uri="{9D8B030D-6E8A-4147-A177-3AD203B41FA5}">
                      <a16:colId xmlns:a16="http://schemas.microsoft.com/office/drawing/2014/main" val="1579372858"/>
                    </a:ext>
                  </a:extLst>
                </a:gridCol>
                <a:gridCol w="4386779">
                  <a:extLst>
                    <a:ext uri="{9D8B030D-6E8A-4147-A177-3AD203B41FA5}">
                      <a16:colId xmlns:a16="http://schemas.microsoft.com/office/drawing/2014/main" val="1711669731"/>
                    </a:ext>
                  </a:extLst>
                </a:gridCol>
                <a:gridCol w="3961310">
                  <a:extLst>
                    <a:ext uri="{9D8B030D-6E8A-4147-A177-3AD203B41FA5}">
                      <a16:colId xmlns:a16="http://schemas.microsoft.com/office/drawing/2014/main" val="3631626669"/>
                    </a:ext>
                  </a:extLst>
                </a:gridCol>
                <a:gridCol w="1274374">
                  <a:extLst>
                    <a:ext uri="{9D8B030D-6E8A-4147-A177-3AD203B41FA5}">
                      <a16:colId xmlns:a16="http://schemas.microsoft.com/office/drawing/2014/main" val="3922417132"/>
                    </a:ext>
                  </a:extLst>
                </a:gridCol>
              </a:tblGrid>
              <a:tr h="1341809">
                <a:tc>
                  <a:txBody>
                    <a:bodyPr/>
                    <a:lstStyle/>
                    <a:p>
                      <a:pPr marL="0" algn="ctr" rtl="0" eaLnBrk="1" latinLnBrk="0" hangingPunct="1">
                        <a:buNone/>
                      </a:pPr>
                      <a:r>
                        <a:rPr lang="en-US" sz="3600" kern="1200" err="1">
                          <a:solidFill>
                            <a:srgbClr val="000000"/>
                          </a:solidFill>
                          <a:effectLst/>
                        </a:rPr>
                        <a:t>S.No</a:t>
                      </a:r>
                      <a:endParaRPr lang="en-IN" sz="3600" err="1">
                        <a:effectLst/>
                      </a:endParaRPr>
                    </a:p>
                  </a:txBody>
                  <a:tcPr marL="137160" marR="137160" marT="137160" marB="137160" anchor="ctr"/>
                </a:tc>
                <a:tc>
                  <a:txBody>
                    <a:bodyPr/>
                    <a:lstStyle/>
                    <a:p>
                      <a:pPr marL="0" algn="ctr" rtl="0" eaLnBrk="1" latinLnBrk="0" hangingPunct="1">
                        <a:buNone/>
                      </a:pPr>
                      <a:r>
                        <a:rPr lang="en-US" sz="3600" kern="1200">
                          <a:solidFill>
                            <a:srgbClr val="000000"/>
                          </a:solidFill>
                          <a:effectLst/>
                        </a:rPr>
                        <a:t>Paper Name</a:t>
                      </a:r>
                      <a:endParaRPr lang="en-IN" sz="3600">
                        <a:effectLst/>
                      </a:endParaRPr>
                    </a:p>
                  </a:txBody>
                  <a:tcPr marL="137160" marR="137160" marT="137160" marB="137160" anchor="ctr"/>
                </a:tc>
                <a:tc>
                  <a:txBody>
                    <a:bodyPr/>
                    <a:lstStyle/>
                    <a:p>
                      <a:pPr marL="0" lvl="0" algn="ctr">
                        <a:buNone/>
                      </a:pPr>
                      <a:r>
                        <a:rPr lang="en-US" sz="3600" kern="1200">
                          <a:solidFill>
                            <a:srgbClr val="000000"/>
                          </a:solidFill>
                          <a:effectLst/>
                        </a:rPr>
                        <a:t>Contribution</a:t>
                      </a:r>
                    </a:p>
                  </a:txBody>
                  <a:tcPr marL="137160" marR="137160" marT="137160" marB="137160" anchor="ctr"/>
                </a:tc>
                <a:tc>
                  <a:txBody>
                    <a:bodyPr/>
                    <a:lstStyle/>
                    <a:p>
                      <a:pPr marL="0" algn="ctr" rtl="0" eaLnBrk="1" latinLnBrk="0" hangingPunct="1">
                        <a:buNone/>
                      </a:pPr>
                      <a:r>
                        <a:rPr lang="en-US" sz="3600" kern="1200">
                          <a:solidFill>
                            <a:srgbClr val="000000"/>
                          </a:solidFill>
                          <a:effectLst/>
                        </a:rPr>
                        <a:t>Limitation</a:t>
                      </a:r>
                    </a:p>
                  </a:txBody>
                  <a:tcPr marL="137160" marR="137160" marT="137160" marB="137160" anchor="ctr"/>
                </a:tc>
                <a:tc>
                  <a:txBody>
                    <a:bodyPr/>
                    <a:lstStyle/>
                    <a:p>
                      <a:pPr marL="0" algn="ctr" rtl="0" eaLnBrk="1" latinLnBrk="0" hangingPunct="1">
                        <a:buNone/>
                      </a:pPr>
                      <a:r>
                        <a:rPr lang="en-US" sz="3600" kern="1200">
                          <a:solidFill>
                            <a:srgbClr val="000000"/>
                          </a:solidFill>
                          <a:effectLst/>
                        </a:rPr>
                        <a:t>Relation to </a:t>
                      </a:r>
                      <a:r>
                        <a:rPr lang="en-US" sz="3600" kern="1200" err="1">
                          <a:solidFill>
                            <a:srgbClr val="000000"/>
                          </a:solidFill>
                          <a:effectLst/>
                        </a:rPr>
                        <a:t>MonoMelt</a:t>
                      </a:r>
                    </a:p>
                  </a:txBody>
                  <a:tcPr marL="137160" marR="137160" marT="137160" marB="137160" anchor="ctr"/>
                </a:tc>
                <a:tc>
                  <a:txBody>
                    <a:bodyPr/>
                    <a:lstStyle/>
                    <a:p>
                      <a:pPr marL="0" algn="ctr" rtl="0" eaLnBrk="1" latinLnBrk="0" hangingPunct="1">
                        <a:buNone/>
                      </a:pPr>
                      <a:r>
                        <a:rPr lang="en-US" sz="3600" kern="1200">
                          <a:solidFill>
                            <a:srgbClr val="000000"/>
                          </a:solidFill>
                          <a:effectLst/>
                        </a:rPr>
                        <a:t>Year</a:t>
                      </a:r>
                      <a:endParaRPr lang="en-IN" sz="3600">
                        <a:effectLst/>
                      </a:endParaRPr>
                    </a:p>
                  </a:txBody>
                  <a:tcPr marL="137160" marR="137160" marT="137160" marB="137160" anchor="ctr"/>
                </a:tc>
                <a:extLst>
                  <a:ext uri="{0D108BD9-81ED-4DB2-BD59-A6C34878D82A}">
                    <a16:rowId xmlns:a16="http://schemas.microsoft.com/office/drawing/2014/main" val="1030080237"/>
                  </a:ext>
                </a:extLst>
              </a:tr>
              <a:tr h="1725184">
                <a:tc>
                  <a:txBody>
                    <a:bodyPr/>
                    <a:lstStyle/>
                    <a:p>
                      <a:pPr marL="0" algn="ctr" rtl="0" eaLnBrk="1" latinLnBrk="0" hangingPunct="1">
                        <a:buNone/>
                      </a:pPr>
                      <a:r>
                        <a:rPr lang="en-US" sz="2400" kern="1200">
                          <a:solidFill>
                            <a:srgbClr val="000000"/>
                          </a:solidFill>
                          <a:effectLst/>
                        </a:rPr>
                        <a:t>1</a:t>
                      </a:r>
                    </a:p>
                  </a:txBody>
                  <a:tcPr marL="137160" marR="137160" marT="137160" marB="137160" anchor="ctr"/>
                </a:tc>
                <a:tc>
                  <a:txBody>
                    <a:bodyPr/>
                    <a:lstStyle/>
                    <a:p>
                      <a:pPr marL="0" lvl="0" algn="l">
                        <a:buNone/>
                      </a:pPr>
                      <a:r>
                        <a:rPr lang="en-US" sz="2400" u="none" strike="noStrike" kern="1200" noProof="0">
                          <a:solidFill>
                            <a:srgbClr val="000000"/>
                          </a:solidFill>
                          <a:effectLst/>
                        </a:rPr>
                        <a:t>Systematic Literature Review of the Cloud-ready Software Architecture (</a:t>
                      </a:r>
                      <a:r>
                        <a:rPr lang="en-US" sz="2400" u="none" strike="noStrike" kern="1200" noProof="0" err="1">
                          <a:solidFill>
                            <a:srgbClr val="000000"/>
                          </a:solidFill>
                          <a:effectLst/>
                        </a:rPr>
                        <a:t>Pozdniakova</a:t>
                      </a:r>
                      <a:r>
                        <a:rPr lang="en-US" sz="2400" u="none" strike="noStrike" kern="1200" noProof="0">
                          <a:solidFill>
                            <a:srgbClr val="000000"/>
                          </a:solidFill>
                          <a:effectLst/>
                        </a:rPr>
                        <a:t> &amp; Mazeika,)</a:t>
                      </a:r>
                      <a:endParaRPr lang="en-US" sz="5400"/>
                    </a:p>
                  </a:txBody>
                  <a:tcPr marL="137160" marR="137160" marT="137160" marB="137160" anchor="ctr"/>
                </a:tc>
                <a:tc>
                  <a:txBody>
                    <a:bodyPr/>
                    <a:lstStyle/>
                    <a:p>
                      <a:pPr marL="0" lvl="0" algn="l">
                        <a:buNone/>
                      </a:pPr>
                      <a:r>
                        <a:rPr lang="en-US" sz="2400" u="none" strike="noStrike" kern="1200" noProof="0">
                          <a:solidFill>
                            <a:srgbClr val="000000"/>
                          </a:solidFill>
                          <a:effectLst/>
                        </a:rPr>
                        <a:t>Defines cloud-ready software principles, cloud-native characteristics and migration requirements</a:t>
                      </a:r>
                      <a:endParaRPr lang="en-US" sz="6600" kern="1200">
                        <a:solidFill>
                          <a:srgbClr val="000000"/>
                        </a:solidFill>
                        <a:effectLst/>
                      </a:endParaRPr>
                    </a:p>
                  </a:txBody>
                  <a:tcPr marL="137160" marR="137160" marT="137160" marB="137160" anchor="ctr"/>
                </a:tc>
                <a:tc>
                  <a:txBody>
                    <a:bodyPr/>
                    <a:lstStyle/>
                    <a:p>
                      <a:pPr marL="0" lvl="0" algn="l">
                        <a:buNone/>
                      </a:pPr>
                      <a:r>
                        <a:rPr lang="en-US" sz="2400" u="none" strike="noStrike" kern="1200" noProof="0">
                          <a:solidFill>
                            <a:srgbClr val="000000"/>
                          </a:solidFill>
                          <a:effectLst/>
                        </a:rPr>
                        <a:t>Focuses on cloud readiness rather than automated migration planning.</a:t>
                      </a:r>
                      <a:endParaRPr lang="en-US" sz="2400" u="none" strike="noStrike" noProof="0"/>
                    </a:p>
                  </a:txBody>
                  <a:tcPr marL="137160" marR="137160" marT="137160" marB="137160" anchor="ctr"/>
                </a:tc>
                <a:tc>
                  <a:txBody>
                    <a:bodyPr/>
                    <a:lstStyle/>
                    <a:p>
                      <a:pPr marL="0" lvl="0" algn="l">
                        <a:buNone/>
                      </a:pPr>
                      <a:r>
                        <a:rPr lang="en-US" sz="2400" u="none" strike="noStrike" kern="1200" noProof="0">
                          <a:solidFill>
                            <a:srgbClr val="000000"/>
                          </a:solidFill>
                          <a:effectLst/>
                        </a:rPr>
                        <a:t>Provides the architectural foundation for </a:t>
                      </a:r>
                      <a:r>
                        <a:rPr lang="en-US" sz="2400" u="none" strike="noStrike" kern="1200" noProof="0" err="1">
                          <a:solidFill>
                            <a:srgbClr val="000000"/>
                          </a:solidFill>
                          <a:effectLst/>
                        </a:rPr>
                        <a:t>MonoMELT's</a:t>
                      </a:r>
                      <a:r>
                        <a:rPr lang="en-US" sz="2400" u="none" strike="noStrike" kern="1200" noProof="0">
                          <a:solidFill>
                            <a:srgbClr val="000000"/>
                          </a:solidFill>
                          <a:effectLst/>
                        </a:rPr>
                        <a:t> cloud-native recommendations</a:t>
                      </a:r>
                      <a:endParaRPr lang="en-US" sz="5400"/>
                    </a:p>
                  </a:txBody>
                  <a:tcPr marL="137160" marR="137160" marT="137160" marB="137160" anchor="ctr"/>
                </a:tc>
                <a:tc>
                  <a:txBody>
                    <a:bodyPr/>
                    <a:lstStyle/>
                    <a:p>
                      <a:pPr marL="0" algn="l" rtl="0" eaLnBrk="1" latinLnBrk="0" hangingPunct="1">
                        <a:buNone/>
                      </a:pPr>
                      <a:r>
                        <a:rPr lang="en-US" sz="2400" kern="1200">
                          <a:solidFill>
                            <a:srgbClr val="000000"/>
                          </a:solidFill>
                          <a:effectLst/>
                        </a:rPr>
                        <a:t>2017</a:t>
                      </a:r>
                    </a:p>
                  </a:txBody>
                  <a:tcPr marL="137160" marR="137160" marT="137160" marB="137160" anchor="ctr"/>
                </a:tc>
                <a:extLst>
                  <a:ext uri="{0D108BD9-81ED-4DB2-BD59-A6C34878D82A}">
                    <a16:rowId xmlns:a16="http://schemas.microsoft.com/office/drawing/2014/main" val="3376114694"/>
                  </a:ext>
                </a:extLst>
              </a:tr>
              <a:tr h="2817808">
                <a:tc>
                  <a:txBody>
                    <a:bodyPr/>
                    <a:lstStyle/>
                    <a:p>
                      <a:pPr marL="0" algn="ctr" rtl="0" eaLnBrk="1" latinLnBrk="0" hangingPunct="1">
                        <a:buNone/>
                      </a:pPr>
                      <a:r>
                        <a:rPr lang="en-US" sz="2400" kern="1200">
                          <a:solidFill>
                            <a:srgbClr val="000000"/>
                          </a:solidFill>
                          <a:effectLst/>
                        </a:rPr>
                        <a:t>2</a:t>
                      </a: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Software Modernization &amp; Architecture Transformation </a:t>
                      </a:r>
                      <a:r>
                        <a:rPr lang="en-US" sz="2400" u="none" strike="noStrike" kern="1200" noProof="0">
                          <a:solidFill>
                            <a:srgbClr val="000000"/>
                          </a:solidFill>
                          <a:effectLst/>
                        </a:rPr>
                        <a:t>Journal of Systems and Software– ScienceDirect (S0950584923000848)</a:t>
                      </a:r>
                      <a:endParaRPr lang="en-US" sz="5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Discusses software modernization and architecture transformation techniques</a:t>
                      </a:r>
                      <a:endParaRPr lang="en-US" sz="5400"/>
                    </a:p>
                  </a:txBody>
                  <a:tcPr marL="137160" marR="137160" marT="137160" marB="137160" anchor="ctr"/>
                </a:tc>
                <a:tc>
                  <a:txBody>
                    <a:bodyPr/>
                    <a:lstStyle/>
                    <a:p>
                      <a:pPr marL="0" lvl="0" algn="l">
                        <a:buNone/>
                      </a:pPr>
                      <a:r>
                        <a:rPr lang="en-US" sz="2400" u="none" strike="noStrike" kern="1200" noProof="0">
                          <a:solidFill>
                            <a:srgbClr val="000000"/>
                          </a:solidFill>
                          <a:effectLst/>
                        </a:rPr>
                        <a:t>Limited end-to-end automation and decision support.</a:t>
                      </a:r>
                      <a:endParaRPr lang="en-US" sz="5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Supports </a:t>
                      </a:r>
                      <a:r>
                        <a:rPr lang="en-US" sz="2400" b="0" i="0" u="none" strike="noStrike" kern="1200" noProof="0" err="1">
                          <a:solidFill>
                            <a:srgbClr val="000000"/>
                          </a:solidFill>
                          <a:effectLst/>
                          <a:latin typeface="Cambria"/>
                          <a:ea typeface="Cambria"/>
                        </a:rPr>
                        <a:t>MonoMELT's</a:t>
                      </a:r>
                      <a:r>
                        <a:rPr lang="en-US" sz="2400" b="0" i="0" u="none" strike="noStrike" kern="1200" noProof="0">
                          <a:solidFill>
                            <a:srgbClr val="000000"/>
                          </a:solidFill>
                          <a:effectLst/>
                          <a:latin typeface="Cambria"/>
                          <a:ea typeface="Cambria"/>
                        </a:rPr>
                        <a:t> automated architecture analysis and modernization workflow</a:t>
                      </a:r>
                      <a:endParaRPr lang="en-US" sz="5400"/>
                    </a:p>
                  </a:txBody>
                  <a:tcPr marL="137160" marR="137160" marT="137160" marB="137160" anchor="ctr"/>
                </a:tc>
                <a:tc>
                  <a:txBody>
                    <a:bodyPr/>
                    <a:lstStyle/>
                    <a:p>
                      <a:pPr marL="0" algn="l" rtl="0" eaLnBrk="1" latinLnBrk="0" hangingPunct="1">
                        <a:buNone/>
                      </a:pPr>
                      <a:r>
                        <a:rPr lang="en-US" sz="2400" kern="1200">
                          <a:solidFill>
                            <a:srgbClr val="000000"/>
                          </a:solidFill>
                          <a:effectLst/>
                        </a:rPr>
                        <a:t>2023</a:t>
                      </a:r>
                    </a:p>
                  </a:txBody>
                  <a:tcPr marL="137160" marR="137160" marT="137160" marB="137160" anchor="ctr"/>
                </a:tc>
                <a:extLst>
                  <a:ext uri="{0D108BD9-81ED-4DB2-BD59-A6C34878D82A}">
                    <a16:rowId xmlns:a16="http://schemas.microsoft.com/office/drawing/2014/main" val="1127117828"/>
                  </a:ext>
                </a:extLst>
              </a:tr>
              <a:tr h="2089380">
                <a:tc>
                  <a:txBody>
                    <a:bodyPr/>
                    <a:lstStyle/>
                    <a:p>
                      <a:pPr marL="0" algn="ctr" rtl="0" eaLnBrk="1" latinLnBrk="0" hangingPunct="1">
                        <a:buNone/>
                      </a:pPr>
                      <a:r>
                        <a:rPr lang="en-US" sz="2400" kern="1200">
                          <a:solidFill>
                            <a:srgbClr val="000000"/>
                          </a:solidFill>
                          <a:effectLst/>
                        </a:rPr>
                        <a:t>3</a:t>
                      </a: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Springer Book Chapter – 10.1007/978-981-96-0706-8_12</a:t>
                      </a:r>
                      <a:endParaRPr lang="en-US" sz="5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Presents approaches for modern software architecture and migration toward cloud-native systems.</a:t>
                      </a:r>
                      <a:endParaRPr lang="en-US" sz="5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Emphasizes migration concepts more than practical implementation</a:t>
                      </a:r>
                      <a:endParaRPr lang="en-US" sz="5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Motivates </a:t>
                      </a:r>
                      <a:r>
                        <a:rPr lang="en-US" sz="2400" b="0" i="0" u="none" strike="noStrike" kern="1200" noProof="0" err="1">
                          <a:solidFill>
                            <a:srgbClr val="000000"/>
                          </a:solidFill>
                          <a:effectLst/>
                          <a:latin typeface="Cambria"/>
                          <a:ea typeface="Cambria"/>
                        </a:rPr>
                        <a:t>MonoMELT's</a:t>
                      </a:r>
                      <a:r>
                        <a:rPr lang="en-US" sz="2400" b="0" i="0" u="none" strike="noStrike" kern="1200" noProof="0">
                          <a:solidFill>
                            <a:srgbClr val="000000"/>
                          </a:solidFill>
                          <a:effectLst/>
                          <a:latin typeface="Cambria"/>
                          <a:ea typeface="Cambria"/>
                        </a:rPr>
                        <a:t> blueprint generation and migration roadmap</a:t>
                      </a:r>
                      <a:endParaRPr lang="en-US" sz="5400"/>
                    </a:p>
                  </a:txBody>
                  <a:tcPr marL="137160" marR="137160" marT="137160" marB="137160" anchor="ctr"/>
                </a:tc>
                <a:tc>
                  <a:txBody>
                    <a:bodyPr/>
                    <a:lstStyle/>
                    <a:p>
                      <a:pPr marL="0" algn="l" rtl="0" eaLnBrk="1" latinLnBrk="0" hangingPunct="1">
                        <a:buNone/>
                      </a:pPr>
                      <a:r>
                        <a:rPr lang="en-US" sz="2400" kern="1200">
                          <a:solidFill>
                            <a:srgbClr val="000000"/>
                          </a:solidFill>
                          <a:effectLst/>
                        </a:rPr>
                        <a:t>2025</a:t>
                      </a:r>
                    </a:p>
                  </a:txBody>
                  <a:tcPr marL="137160" marR="137160" marT="137160" marB="137160" anchor="ctr"/>
                </a:tc>
                <a:extLst>
                  <a:ext uri="{0D108BD9-81ED-4DB2-BD59-A6C34878D82A}">
                    <a16:rowId xmlns:a16="http://schemas.microsoft.com/office/drawing/2014/main" val="1714689354"/>
                  </a:ext>
                </a:extLst>
              </a:tr>
              <a:tr h="2261906">
                <a:tc>
                  <a:txBody>
                    <a:bodyPr/>
                    <a:lstStyle/>
                    <a:p>
                      <a:pPr marL="0" algn="ctr" rtl="0" eaLnBrk="1" latinLnBrk="0" hangingPunct="1">
                        <a:buNone/>
                      </a:pPr>
                      <a:r>
                        <a:rPr lang="en-US" sz="2400" kern="1200">
                          <a:solidFill>
                            <a:srgbClr val="000000"/>
                          </a:solidFill>
                          <a:effectLst/>
                        </a:rPr>
                        <a:t>4</a:t>
                      </a: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Understanding Cloud-Native Applications After 10 Years of Cloud Computing (Kratzke et al.,)</a:t>
                      </a:r>
                      <a:endParaRPr lang="en-US" sz="5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Summarizes cloud-native principles, engineering practices and architectural patterns</a:t>
                      </a:r>
                      <a:endParaRPr lang="en-US" sz="5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Does not address legacy monolith decomposition</a:t>
                      </a:r>
                      <a:endParaRPr lang="en-US" sz="5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Used for cloud-native recommendations and deployment strategy.</a:t>
                      </a:r>
                      <a:endParaRPr lang="en-US" sz="2400" b="0" i="0" u="none" strike="noStrike" noProof="0">
                        <a:latin typeface="Cambria"/>
                        <a:ea typeface="Cambria"/>
                      </a:endParaRPr>
                    </a:p>
                  </a:txBody>
                  <a:tcPr marL="137160" marR="137160" marT="137160" marB="137160" anchor="ctr"/>
                </a:tc>
                <a:tc>
                  <a:txBody>
                    <a:bodyPr/>
                    <a:lstStyle/>
                    <a:p>
                      <a:pPr marL="0" algn="l" rtl="0" eaLnBrk="1" latinLnBrk="0" hangingPunct="1">
                        <a:buNone/>
                      </a:pPr>
                      <a:r>
                        <a:rPr lang="en-US" sz="2400" kern="1200">
                          <a:solidFill>
                            <a:srgbClr val="000000"/>
                          </a:solidFill>
                          <a:effectLst/>
                        </a:rPr>
                        <a:t>2017</a:t>
                      </a:r>
                    </a:p>
                  </a:txBody>
                  <a:tcPr marL="137160" marR="137160" marT="137160" marB="137160" anchor="ctr"/>
                </a:tc>
                <a:extLst>
                  <a:ext uri="{0D108BD9-81ED-4DB2-BD59-A6C34878D82A}">
                    <a16:rowId xmlns:a16="http://schemas.microsoft.com/office/drawing/2014/main" val="1303049020"/>
                  </a:ext>
                </a:extLst>
              </a:tr>
            </a:tbl>
          </a:graphicData>
        </a:graphic>
      </p:graphicFrame>
    </p:spTree>
    <p:extLst>
      <p:ext uri="{BB962C8B-B14F-4D97-AF65-F5344CB8AC3E}">
        <p14:creationId xmlns:p14="http://schemas.microsoft.com/office/powerpoint/2010/main" val="3026150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a:extLst>
            <a:ext uri="{FF2B5EF4-FFF2-40B4-BE49-F238E27FC236}">
              <a16:creationId xmlns:a16="http://schemas.microsoft.com/office/drawing/2014/main" id="{AB54F18E-4A3F-AF23-0CA7-2DCD3768516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6B894C-4F59-EF6C-20AF-2680E4B9983F}"/>
              </a:ext>
            </a:extLst>
          </p:cNvPr>
          <p:cNvSpPr/>
          <p:nvPr/>
        </p:nvSpPr>
        <p:spPr>
          <a:xfrm rot="2700000" flipH="1">
            <a:off x="-2109444" y="5046072"/>
            <a:ext cx="9290530" cy="6858100"/>
          </a:xfrm>
          <a:custGeom>
            <a:avLst/>
            <a:gdLst/>
            <a:ahLst/>
            <a:cxnLst/>
            <a:rect l="l" t="t" r="r" b="b"/>
            <a:pathLst>
              <a:path w="9290530" h="6858100">
                <a:moveTo>
                  <a:pt x="9290530" y="0"/>
                </a:moveTo>
                <a:lnTo>
                  <a:pt x="0" y="0"/>
                </a:lnTo>
                <a:lnTo>
                  <a:pt x="0" y="6858101"/>
                </a:lnTo>
                <a:lnTo>
                  <a:pt x="9290530" y="6858101"/>
                </a:lnTo>
                <a:lnTo>
                  <a:pt x="9290530" y="0"/>
                </a:lnTo>
                <a:close/>
              </a:path>
            </a:pathLst>
          </a:custGeom>
          <a:blipFill>
            <a:blip r:embed="rId2">
              <a:alphaModFix amt="24000"/>
            </a:blip>
            <a:stretch>
              <a:fillRect/>
            </a:stretch>
          </a:blipFill>
        </p:spPr>
      </p:sp>
      <p:graphicFrame>
        <p:nvGraphicFramePr>
          <p:cNvPr id="20" name="Table 19">
            <a:extLst>
              <a:ext uri="{FF2B5EF4-FFF2-40B4-BE49-F238E27FC236}">
                <a16:creationId xmlns:a16="http://schemas.microsoft.com/office/drawing/2014/main" id="{0C5CFD11-2772-6389-6D2B-2007B576B149}"/>
              </a:ext>
            </a:extLst>
          </p:cNvPr>
          <p:cNvGraphicFramePr>
            <a:graphicFrameLocks noGrp="1"/>
          </p:cNvGraphicFramePr>
          <p:nvPr>
            <p:extLst>
              <p:ext uri="{D42A27DB-BD31-4B8C-83A1-F6EECF244321}">
                <p14:modId xmlns:p14="http://schemas.microsoft.com/office/powerpoint/2010/main" val="2277500249"/>
              </p:ext>
            </p:extLst>
          </p:nvPr>
        </p:nvGraphicFramePr>
        <p:xfrm>
          <a:off x="10064" y="-1150"/>
          <a:ext cx="18282501" cy="10493082"/>
        </p:xfrm>
        <a:graphic>
          <a:graphicData uri="http://schemas.openxmlformats.org/drawingml/2006/table">
            <a:tbl>
              <a:tblPr firstRow="1" bandRow="1">
                <a:tableStyleId>{5940675A-B579-460E-94D1-54222C63F5DA}</a:tableStyleId>
              </a:tblPr>
              <a:tblGrid>
                <a:gridCol w="1402291">
                  <a:extLst>
                    <a:ext uri="{9D8B030D-6E8A-4147-A177-3AD203B41FA5}">
                      <a16:colId xmlns:a16="http://schemas.microsoft.com/office/drawing/2014/main" val="1574016792"/>
                    </a:ext>
                  </a:extLst>
                </a:gridCol>
                <a:gridCol w="3704065">
                  <a:extLst>
                    <a:ext uri="{9D8B030D-6E8A-4147-A177-3AD203B41FA5}">
                      <a16:colId xmlns:a16="http://schemas.microsoft.com/office/drawing/2014/main" val="3153291198"/>
                    </a:ext>
                  </a:extLst>
                </a:gridCol>
                <a:gridCol w="3574248">
                  <a:extLst>
                    <a:ext uri="{9D8B030D-6E8A-4147-A177-3AD203B41FA5}">
                      <a16:colId xmlns:a16="http://schemas.microsoft.com/office/drawing/2014/main" val="1579372858"/>
                    </a:ext>
                  </a:extLst>
                </a:gridCol>
                <a:gridCol w="4377403">
                  <a:extLst>
                    <a:ext uri="{9D8B030D-6E8A-4147-A177-3AD203B41FA5}">
                      <a16:colId xmlns:a16="http://schemas.microsoft.com/office/drawing/2014/main" val="1711669731"/>
                    </a:ext>
                  </a:extLst>
                </a:gridCol>
                <a:gridCol w="3952843">
                  <a:extLst>
                    <a:ext uri="{9D8B030D-6E8A-4147-A177-3AD203B41FA5}">
                      <a16:colId xmlns:a16="http://schemas.microsoft.com/office/drawing/2014/main" val="3631626669"/>
                    </a:ext>
                  </a:extLst>
                </a:gridCol>
                <a:gridCol w="1271651">
                  <a:extLst>
                    <a:ext uri="{9D8B030D-6E8A-4147-A177-3AD203B41FA5}">
                      <a16:colId xmlns:a16="http://schemas.microsoft.com/office/drawing/2014/main" val="3922417132"/>
                    </a:ext>
                  </a:extLst>
                </a:gridCol>
              </a:tblGrid>
              <a:tr h="1967443">
                <a:tc>
                  <a:txBody>
                    <a:bodyPr/>
                    <a:lstStyle/>
                    <a:p>
                      <a:pPr marL="0" algn="ctr" rtl="0" eaLnBrk="1" latinLnBrk="0" hangingPunct="1">
                        <a:buNone/>
                      </a:pPr>
                      <a:r>
                        <a:rPr lang="en-US" sz="3600" kern="1200" err="1">
                          <a:solidFill>
                            <a:srgbClr val="000000"/>
                          </a:solidFill>
                          <a:effectLst/>
                        </a:rPr>
                        <a:t>S.No</a:t>
                      </a:r>
                      <a:endParaRPr lang="en-IN" sz="3600">
                        <a:effectLst/>
                      </a:endParaRPr>
                    </a:p>
                  </a:txBody>
                  <a:tcPr marL="137160" marR="137160" marT="137160" marB="137160" anchor="ctr"/>
                </a:tc>
                <a:tc>
                  <a:txBody>
                    <a:bodyPr/>
                    <a:lstStyle/>
                    <a:p>
                      <a:pPr marL="0" algn="ctr" rtl="0" eaLnBrk="1" latinLnBrk="0" hangingPunct="1">
                        <a:buNone/>
                      </a:pPr>
                      <a:r>
                        <a:rPr lang="en-US" sz="3600" kern="1200">
                          <a:solidFill>
                            <a:srgbClr val="000000"/>
                          </a:solidFill>
                          <a:effectLst/>
                        </a:rPr>
                        <a:t>Paper Name</a:t>
                      </a:r>
                      <a:endParaRPr lang="en-IN" sz="3600">
                        <a:effectLst/>
                      </a:endParaRPr>
                    </a:p>
                  </a:txBody>
                  <a:tcPr marL="137160" marR="137160" marT="137160" marB="137160" anchor="ctr"/>
                </a:tc>
                <a:tc>
                  <a:txBody>
                    <a:bodyPr/>
                    <a:lstStyle/>
                    <a:p>
                      <a:pPr marL="0" lvl="0" algn="ctr">
                        <a:buNone/>
                      </a:pPr>
                      <a:r>
                        <a:rPr lang="en-US" sz="3600" kern="1200">
                          <a:solidFill>
                            <a:srgbClr val="000000"/>
                          </a:solidFill>
                          <a:effectLst/>
                        </a:rPr>
                        <a:t>Contribution</a:t>
                      </a:r>
                    </a:p>
                  </a:txBody>
                  <a:tcPr marL="137160" marR="137160" marT="137160" marB="137160" anchor="ctr"/>
                </a:tc>
                <a:tc>
                  <a:txBody>
                    <a:bodyPr/>
                    <a:lstStyle/>
                    <a:p>
                      <a:pPr marL="0" algn="ctr" rtl="0" eaLnBrk="1" latinLnBrk="0" hangingPunct="1">
                        <a:buNone/>
                      </a:pPr>
                      <a:r>
                        <a:rPr lang="en-US" sz="3600" kern="1200">
                          <a:solidFill>
                            <a:srgbClr val="000000"/>
                          </a:solidFill>
                          <a:effectLst/>
                        </a:rPr>
                        <a:t>Limitation</a:t>
                      </a:r>
                    </a:p>
                  </a:txBody>
                  <a:tcPr marL="137160" marR="137160" marT="137160" marB="137160" anchor="ctr"/>
                </a:tc>
                <a:tc>
                  <a:txBody>
                    <a:bodyPr/>
                    <a:lstStyle/>
                    <a:p>
                      <a:pPr marL="0" algn="ctr" rtl="0" eaLnBrk="1" latinLnBrk="0" hangingPunct="1">
                        <a:buNone/>
                      </a:pPr>
                      <a:r>
                        <a:rPr lang="en-US" sz="3600" kern="1200">
                          <a:solidFill>
                            <a:srgbClr val="000000"/>
                          </a:solidFill>
                          <a:effectLst/>
                        </a:rPr>
                        <a:t>Relation to </a:t>
                      </a:r>
                      <a:r>
                        <a:rPr lang="en-US" sz="3600" kern="1200" err="1">
                          <a:solidFill>
                            <a:srgbClr val="000000"/>
                          </a:solidFill>
                          <a:effectLst/>
                        </a:rPr>
                        <a:t>MonoMelt</a:t>
                      </a:r>
                    </a:p>
                  </a:txBody>
                  <a:tcPr marL="137160" marR="137160" marT="137160" marB="137160" anchor="ctr"/>
                </a:tc>
                <a:tc>
                  <a:txBody>
                    <a:bodyPr/>
                    <a:lstStyle/>
                    <a:p>
                      <a:pPr marL="0" algn="ctr" rtl="0" eaLnBrk="1" latinLnBrk="0" hangingPunct="1">
                        <a:buNone/>
                      </a:pPr>
                      <a:r>
                        <a:rPr lang="en-US" sz="3600" kern="1200">
                          <a:solidFill>
                            <a:srgbClr val="000000"/>
                          </a:solidFill>
                          <a:effectLst/>
                        </a:rPr>
                        <a:t>Year</a:t>
                      </a:r>
                      <a:endParaRPr lang="en-IN" sz="3600">
                        <a:effectLst/>
                      </a:endParaRPr>
                    </a:p>
                  </a:txBody>
                  <a:tcPr marL="137160" marR="137160" marT="137160" marB="137160" anchor="ctr"/>
                </a:tc>
                <a:extLst>
                  <a:ext uri="{0D108BD9-81ED-4DB2-BD59-A6C34878D82A}">
                    <a16:rowId xmlns:a16="http://schemas.microsoft.com/office/drawing/2014/main" val="1030080237"/>
                  </a:ext>
                </a:extLst>
              </a:tr>
              <a:tr h="2911828">
                <a:tc>
                  <a:txBody>
                    <a:bodyPr/>
                    <a:lstStyle/>
                    <a:p>
                      <a:pPr marL="0" algn="ctr" rtl="0" eaLnBrk="1" latinLnBrk="0" hangingPunct="1">
                        <a:buNone/>
                      </a:pPr>
                      <a:r>
                        <a:rPr lang="en-US" sz="2400" kern="1200">
                          <a:solidFill>
                            <a:srgbClr val="000000"/>
                          </a:solidFill>
                          <a:effectLst/>
                        </a:rPr>
                        <a:t>5</a:t>
                      </a: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Monolithic vs. Microservice Architecture: A Performance and Scalability Evaluation (Blinowski et al., )</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Compares scalability, performance and operational trade-offs between monoliths and microservices.</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Provides evaluation but not migration assistance</a:t>
                      </a:r>
                      <a:r>
                        <a:rPr lang="en-US" sz="2400" u="none" strike="noStrike" kern="1200" noProof="0">
                          <a:solidFill>
                            <a:srgbClr val="000000"/>
                          </a:solidFill>
                          <a:effectLst/>
                        </a:rPr>
                        <a:t>.</a:t>
                      </a:r>
                      <a:endParaRPr lang="en-US" sz="2400" u="none" strike="noStrike" noProof="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Supports </a:t>
                      </a:r>
                      <a:r>
                        <a:rPr lang="en-US" sz="2400" b="0" i="0" u="none" strike="noStrike" kern="1200" noProof="0" err="1">
                          <a:solidFill>
                            <a:srgbClr val="000000"/>
                          </a:solidFill>
                          <a:effectLst/>
                          <a:latin typeface="Cambria"/>
                          <a:ea typeface="Cambria"/>
                        </a:rPr>
                        <a:t>MonoMELT's</a:t>
                      </a:r>
                      <a:r>
                        <a:rPr lang="en-US" sz="2400" b="0" i="0" u="none" strike="noStrike" kern="1200" noProof="0">
                          <a:solidFill>
                            <a:srgbClr val="000000"/>
                          </a:solidFill>
                          <a:effectLst/>
                          <a:latin typeface="Cambria"/>
                          <a:ea typeface="Cambria"/>
                        </a:rPr>
                        <a:t> performance simulation and cost estimation modules.</a:t>
                      </a:r>
                      <a:endParaRPr lang="en-US" sz="2400"/>
                    </a:p>
                  </a:txBody>
                  <a:tcPr marL="137160" marR="137160" marT="137160" marB="137160" anchor="ctr"/>
                </a:tc>
                <a:tc>
                  <a:txBody>
                    <a:bodyPr/>
                    <a:lstStyle/>
                    <a:p>
                      <a:pPr marL="0" algn="l" rtl="0" eaLnBrk="1" latinLnBrk="0" hangingPunct="1">
                        <a:buNone/>
                      </a:pPr>
                      <a:r>
                        <a:rPr lang="en-US" sz="2400" kern="1200">
                          <a:solidFill>
                            <a:srgbClr val="000000"/>
                          </a:solidFill>
                          <a:effectLst/>
                        </a:rPr>
                        <a:t>2022</a:t>
                      </a:r>
                    </a:p>
                  </a:txBody>
                  <a:tcPr marL="137160" marR="137160" marT="137160" marB="137160" anchor="ctr"/>
                </a:tc>
                <a:extLst>
                  <a:ext uri="{0D108BD9-81ED-4DB2-BD59-A6C34878D82A}">
                    <a16:rowId xmlns:a16="http://schemas.microsoft.com/office/drawing/2014/main" val="3376114694"/>
                  </a:ext>
                </a:extLst>
              </a:tr>
              <a:tr h="2413411">
                <a:tc>
                  <a:txBody>
                    <a:bodyPr/>
                    <a:lstStyle/>
                    <a:p>
                      <a:pPr marL="0" algn="ctr" rtl="0" eaLnBrk="1" latinLnBrk="0" hangingPunct="1">
                        <a:buNone/>
                      </a:pPr>
                      <a:r>
                        <a:rPr lang="en-US" sz="2400" kern="1200">
                          <a:solidFill>
                            <a:srgbClr val="000000"/>
                          </a:solidFill>
                          <a:effectLst/>
                        </a:rPr>
                        <a:t>6</a:t>
                      </a: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From Monolith to Microservices: A Classification of Refactoring Approaches (Fritzsch et al.,)</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Classifies microservice decomposition and refactoring techniques</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Most approaches require manual architectural decisions</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mbria"/>
                          <a:ea typeface="Cambria"/>
                        </a:rPr>
                        <a:t>Forms the basis of </a:t>
                      </a:r>
                      <a:r>
                        <a:rPr lang="en-US" sz="2400" b="0" i="0" u="none" strike="noStrike" kern="1200" noProof="0" err="1">
                          <a:solidFill>
                            <a:srgbClr val="000000"/>
                          </a:solidFill>
                          <a:effectLst/>
                          <a:latin typeface="Cambria"/>
                          <a:ea typeface="Cambria"/>
                        </a:rPr>
                        <a:t>MonoMELT's</a:t>
                      </a:r>
                      <a:r>
                        <a:rPr lang="en-US" sz="2400" b="0" i="0" u="none" strike="noStrike" kern="1200" noProof="0">
                          <a:solidFill>
                            <a:srgbClr val="000000"/>
                          </a:solidFill>
                          <a:effectLst/>
                          <a:latin typeface="Cambria"/>
                          <a:ea typeface="Cambria"/>
                        </a:rPr>
                        <a:t> multi-scenario decomposition engine.</a:t>
                      </a:r>
                      <a:endParaRPr lang="en-US" sz="2400"/>
                    </a:p>
                  </a:txBody>
                  <a:tcPr marL="137160" marR="137160" marT="137160" marB="137160" anchor="ctr"/>
                </a:tc>
                <a:tc>
                  <a:txBody>
                    <a:bodyPr/>
                    <a:lstStyle/>
                    <a:p>
                      <a:pPr marL="0" algn="l" rtl="0" eaLnBrk="1" latinLnBrk="0" hangingPunct="1">
                        <a:buNone/>
                      </a:pPr>
                      <a:r>
                        <a:rPr lang="en-US" sz="2400" kern="1200">
                          <a:solidFill>
                            <a:srgbClr val="000000"/>
                          </a:solidFill>
                          <a:effectLst/>
                        </a:rPr>
                        <a:t>2018</a:t>
                      </a:r>
                    </a:p>
                  </a:txBody>
                  <a:tcPr marL="137160" marR="137160" marT="137160" marB="137160" anchor="ctr"/>
                </a:tc>
                <a:extLst>
                  <a:ext uri="{0D108BD9-81ED-4DB2-BD59-A6C34878D82A}">
                    <a16:rowId xmlns:a16="http://schemas.microsoft.com/office/drawing/2014/main" val="1127117828"/>
                  </a:ext>
                </a:extLst>
              </a:tr>
              <a:tr h="3016760">
                <a:tc>
                  <a:txBody>
                    <a:bodyPr/>
                    <a:lstStyle/>
                    <a:p>
                      <a:pPr marL="0" algn="ctr" rtl="0" eaLnBrk="1" latinLnBrk="0" hangingPunct="1">
                        <a:buNone/>
                      </a:pPr>
                      <a:r>
                        <a:rPr lang="en-US" sz="2400" kern="1200">
                          <a:solidFill>
                            <a:srgbClr val="000000"/>
                          </a:solidFill>
                          <a:effectLst/>
                        </a:rPr>
                        <a:t>7</a:t>
                      </a: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Decomposition of Monolith Applications Into Microservices Architectures: A Systematic Review (Khan et al.,)</a:t>
                      </a:r>
                      <a:endParaRPr lang="en-US" sz="2400">
                        <a:latin typeface="Calibri"/>
                        <a:ea typeface="Calibri"/>
                        <a:cs typeface="Calibri"/>
                      </a:endParaRP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Reviews 35 research papers and introduces the Monolith to Microservices Decomposition Framework (M2MDF), covering decomposition phases, approaches, metrics and datasets</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Finds that static, dynamic and evolutionary data are rarely combined and that tool support, standardized metrics and benchmarks remain insufficient.</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Directly supports </a:t>
                      </a:r>
                      <a:r>
                        <a:rPr lang="en-US" sz="2400" b="0" i="0" u="none" strike="noStrike" kern="1200" noProof="0" err="1">
                          <a:solidFill>
                            <a:srgbClr val="000000"/>
                          </a:solidFill>
                          <a:effectLst/>
                          <a:latin typeface="Calibri"/>
                          <a:ea typeface="Calibri"/>
                          <a:cs typeface="Calibri"/>
                        </a:rPr>
                        <a:t>MonoMELT's</a:t>
                      </a:r>
                      <a:r>
                        <a:rPr lang="en-US" sz="2400" b="0" i="0" u="none" strike="noStrike" kern="1200" noProof="0">
                          <a:solidFill>
                            <a:srgbClr val="000000"/>
                          </a:solidFill>
                          <a:effectLst/>
                          <a:latin typeface="Calibri"/>
                          <a:ea typeface="Calibri"/>
                          <a:cs typeface="Calibri"/>
                        </a:rPr>
                        <a:t> decomposition engine, dependency analysis and multi-factor service boundary evaluation.</a:t>
                      </a:r>
                      <a:endParaRPr lang="en-US" sz="2400"/>
                    </a:p>
                  </a:txBody>
                  <a:tcPr marL="137160" marR="137160" marT="137160" marB="137160" anchor="ctr"/>
                </a:tc>
                <a:tc>
                  <a:txBody>
                    <a:bodyPr/>
                    <a:lstStyle/>
                    <a:p>
                      <a:pPr marL="0" algn="l" rtl="0" eaLnBrk="1" latinLnBrk="0" hangingPunct="1">
                        <a:buNone/>
                      </a:pPr>
                      <a:r>
                        <a:rPr lang="en-US" sz="2400" kern="1200">
                          <a:solidFill>
                            <a:srgbClr val="000000"/>
                          </a:solidFill>
                          <a:effectLst/>
                        </a:rPr>
                        <a:t>2023</a:t>
                      </a:r>
                    </a:p>
                  </a:txBody>
                  <a:tcPr marL="137160" marR="137160" marT="137160" marB="137160" anchor="ctr"/>
                </a:tc>
                <a:extLst>
                  <a:ext uri="{0D108BD9-81ED-4DB2-BD59-A6C34878D82A}">
                    <a16:rowId xmlns:a16="http://schemas.microsoft.com/office/drawing/2014/main" val="1714689354"/>
                  </a:ext>
                </a:extLst>
              </a:tr>
            </a:tbl>
          </a:graphicData>
        </a:graphic>
      </p:graphicFrame>
    </p:spTree>
    <p:extLst>
      <p:ext uri="{BB962C8B-B14F-4D97-AF65-F5344CB8AC3E}">
        <p14:creationId xmlns:p14="http://schemas.microsoft.com/office/powerpoint/2010/main" val="1135196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a:extLst>
            <a:ext uri="{FF2B5EF4-FFF2-40B4-BE49-F238E27FC236}">
              <a16:creationId xmlns:a16="http://schemas.microsoft.com/office/drawing/2014/main" id="{83C951ED-919B-5F31-26F8-D3EEBE440B1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175DF29-9C0C-5BFE-3B6B-3832D784914E}"/>
              </a:ext>
            </a:extLst>
          </p:cNvPr>
          <p:cNvSpPr/>
          <p:nvPr/>
        </p:nvSpPr>
        <p:spPr>
          <a:xfrm rot="2700000" flipH="1">
            <a:off x="-2109444" y="5046072"/>
            <a:ext cx="9290530" cy="6858100"/>
          </a:xfrm>
          <a:custGeom>
            <a:avLst/>
            <a:gdLst/>
            <a:ahLst/>
            <a:cxnLst/>
            <a:rect l="l" t="t" r="r" b="b"/>
            <a:pathLst>
              <a:path w="9290530" h="6858100">
                <a:moveTo>
                  <a:pt x="9290530" y="0"/>
                </a:moveTo>
                <a:lnTo>
                  <a:pt x="0" y="0"/>
                </a:lnTo>
                <a:lnTo>
                  <a:pt x="0" y="6858101"/>
                </a:lnTo>
                <a:lnTo>
                  <a:pt x="9290530" y="6858101"/>
                </a:lnTo>
                <a:lnTo>
                  <a:pt x="9290530" y="0"/>
                </a:lnTo>
                <a:close/>
              </a:path>
            </a:pathLst>
          </a:custGeom>
          <a:blipFill>
            <a:blip r:embed="rId2">
              <a:alphaModFix amt="24000"/>
            </a:blip>
            <a:stretch>
              <a:fillRect/>
            </a:stretch>
          </a:blipFill>
        </p:spPr>
      </p:sp>
      <p:graphicFrame>
        <p:nvGraphicFramePr>
          <p:cNvPr id="20" name="Table 19">
            <a:extLst>
              <a:ext uri="{FF2B5EF4-FFF2-40B4-BE49-F238E27FC236}">
                <a16:creationId xmlns:a16="http://schemas.microsoft.com/office/drawing/2014/main" id="{17CA06C8-2C5F-58BD-0D0D-F562408CFF8C}"/>
              </a:ext>
            </a:extLst>
          </p:cNvPr>
          <p:cNvGraphicFramePr>
            <a:graphicFrameLocks noGrp="1"/>
          </p:cNvGraphicFramePr>
          <p:nvPr>
            <p:extLst>
              <p:ext uri="{D42A27DB-BD31-4B8C-83A1-F6EECF244321}">
                <p14:modId xmlns:p14="http://schemas.microsoft.com/office/powerpoint/2010/main" val="1672172600"/>
              </p:ext>
            </p:extLst>
          </p:nvPr>
        </p:nvGraphicFramePr>
        <p:xfrm>
          <a:off x="10064" y="-1150"/>
          <a:ext cx="18282501" cy="9397573"/>
        </p:xfrm>
        <a:graphic>
          <a:graphicData uri="http://schemas.openxmlformats.org/drawingml/2006/table">
            <a:tbl>
              <a:tblPr firstRow="1" bandRow="1">
                <a:tableStyleId>{5940675A-B579-460E-94D1-54222C63F5DA}</a:tableStyleId>
              </a:tblPr>
              <a:tblGrid>
                <a:gridCol w="1402291">
                  <a:extLst>
                    <a:ext uri="{9D8B030D-6E8A-4147-A177-3AD203B41FA5}">
                      <a16:colId xmlns:a16="http://schemas.microsoft.com/office/drawing/2014/main" val="1574016792"/>
                    </a:ext>
                  </a:extLst>
                </a:gridCol>
                <a:gridCol w="3704065">
                  <a:extLst>
                    <a:ext uri="{9D8B030D-6E8A-4147-A177-3AD203B41FA5}">
                      <a16:colId xmlns:a16="http://schemas.microsoft.com/office/drawing/2014/main" val="3153291198"/>
                    </a:ext>
                  </a:extLst>
                </a:gridCol>
                <a:gridCol w="3574248">
                  <a:extLst>
                    <a:ext uri="{9D8B030D-6E8A-4147-A177-3AD203B41FA5}">
                      <a16:colId xmlns:a16="http://schemas.microsoft.com/office/drawing/2014/main" val="1579372858"/>
                    </a:ext>
                  </a:extLst>
                </a:gridCol>
                <a:gridCol w="4377403">
                  <a:extLst>
                    <a:ext uri="{9D8B030D-6E8A-4147-A177-3AD203B41FA5}">
                      <a16:colId xmlns:a16="http://schemas.microsoft.com/office/drawing/2014/main" val="1711669731"/>
                    </a:ext>
                  </a:extLst>
                </a:gridCol>
                <a:gridCol w="3952843">
                  <a:extLst>
                    <a:ext uri="{9D8B030D-6E8A-4147-A177-3AD203B41FA5}">
                      <a16:colId xmlns:a16="http://schemas.microsoft.com/office/drawing/2014/main" val="3631626669"/>
                    </a:ext>
                  </a:extLst>
                </a:gridCol>
                <a:gridCol w="1271651">
                  <a:extLst>
                    <a:ext uri="{9D8B030D-6E8A-4147-A177-3AD203B41FA5}">
                      <a16:colId xmlns:a16="http://schemas.microsoft.com/office/drawing/2014/main" val="3922417132"/>
                    </a:ext>
                  </a:extLst>
                </a:gridCol>
              </a:tblGrid>
              <a:tr h="734629">
                <a:tc>
                  <a:txBody>
                    <a:bodyPr/>
                    <a:lstStyle/>
                    <a:p>
                      <a:pPr marL="0" algn="ctr" rtl="0" eaLnBrk="1" latinLnBrk="0" hangingPunct="1">
                        <a:buNone/>
                      </a:pPr>
                      <a:r>
                        <a:rPr lang="en-US" sz="3600" kern="1200" err="1">
                          <a:solidFill>
                            <a:srgbClr val="000000"/>
                          </a:solidFill>
                          <a:effectLst/>
                        </a:rPr>
                        <a:t>S.No</a:t>
                      </a:r>
                      <a:endParaRPr lang="en-IN" sz="3600">
                        <a:effectLst/>
                      </a:endParaRPr>
                    </a:p>
                  </a:txBody>
                  <a:tcPr marL="137160" marR="137160" marT="137160" marB="137160" anchor="ctr"/>
                </a:tc>
                <a:tc>
                  <a:txBody>
                    <a:bodyPr/>
                    <a:lstStyle/>
                    <a:p>
                      <a:pPr marL="0" algn="ctr" rtl="0" eaLnBrk="1" latinLnBrk="0" hangingPunct="1">
                        <a:buNone/>
                      </a:pPr>
                      <a:r>
                        <a:rPr lang="en-US" sz="3600" kern="1200">
                          <a:solidFill>
                            <a:srgbClr val="000000"/>
                          </a:solidFill>
                          <a:effectLst/>
                        </a:rPr>
                        <a:t>Paper Name</a:t>
                      </a:r>
                      <a:endParaRPr lang="en-IN" sz="3600">
                        <a:effectLst/>
                      </a:endParaRPr>
                    </a:p>
                  </a:txBody>
                  <a:tcPr marL="137160" marR="137160" marT="137160" marB="137160" anchor="ctr"/>
                </a:tc>
                <a:tc>
                  <a:txBody>
                    <a:bodyPr/>
                    <a:lstStyle/>
                    <a:p>
                      <a:pPr marL="0" lvl="0" algn="ctr">
                        <a:buNone/>
                      </a:pPr>
                      <a:r>
                        <a:rPr lang="en-US" sz="3600" kern="1200">
                          <a:solidFill>
                            <a:srgbClr val="000000"/>
                          </a:solidFill>
                          <a:effectLst/>
                        </a:rPr>
                        <a:t>Contribution</a:t>
                      </a:r>
                    </a:p>
                  </a:txBody>
                  <a:tcPr marL="137160" marR="137160" marT="137160" marB="137160" anchor="ctr"/>
                </a:tc>
                <a:tc>
                  <a:txBody>
                    <a:bodyPr/>
                    <a:lstStyle/>
                    <a:p>
                      <a:pPr marL="0" algn="ctr" rtl="0" eaLnBrk="1" latinLnBrk="0" hangingPunct="1">
                        <a:buNone/>
                      </a:pPr>
                      <a:r>
                        <a:rPr lang="en-US" sz="3600" kern="1200">
                          <a:solidFill>
                            <a:srgbClr val="000000"/>
                          </a:solidFill>
                          <a:effectLst/>
                        </a:rPr>
                        <a:t>Limitation</a:t>
                      </a:r>
                    </a:p>
                  </a:txBody>
                  <a:tcPr marL="137160" marR="137160" marT="137160" marB="137160" anchor="ctr"/>
                </a:tc>
                <a:tc>
                  <a:txBody>
                    <a:bodyPr/>
                    <a:lstStyle/>
                    <a:p>
                      <a:pPr marL="0" algn="ctr" rtl="0" eaLnBrk="1" latinLnBrk="0" hangingPunct="1">
                        <a:buNone/>
                      </a:pPr>
                      <a:r>
                        <a:rPr lang="en-US" sz="3600" kern="1200">
                          <a:solidFill>
                            <a:srgbClr val="000000"/>
                          </a:solidFill>
                          <a:effectLst/>
                        </a:rPr>
                        <a:t>Relation to </a:t>
                      </a:r>
                      <a:r>
                        <a:rPr lang="en-US" sz="3600" kern="1200" err="1">
                          <a:solidFill>
                            <a:srgbClr val="000000"/>
                          </a:solidFill>
                          <a:effectLst/>
                        </a:rPr>
                        <a:t>MonoMelt</a:t>
                      </a:r>
                    </a:p>
                  </a:txBody>
                  <a:tcPr marL="137160" marR="137160" marT="137160" marB="137160" anchor="ctr"/>
                </a:tc>
                <a:tc>
                  <a:txBody>
                    <a:bodyPr/>
                    <a:lstStyle/>
                    <a:p>
                      <a:pPr marL="0" algn="ctr" rtl="0" eaLnBrk="1" latinLnBrk="0" hangingPunct="1">
                        <a:buNone/>
                      </a:pPr>
                      <a:r>
                        <a:rPr lang="en-US" sz="3600" kern="1200">
                          <a:solidFill>
                            <a:srgbClr val="000000"/>
                          </a:solidFill>
                          <a:effectLst/>
                        </a:rPr>
                        <a:t>Year</a:t>
                      </a:r>
                      <a:endParaRPr lang="en-IN" sz="3600">
                        <a:effectLst/>
                      </a:endParaRPr>
                    </a:p>
                  </a:txBody>
                  <a:tcPr marL="137160" marR="137160" marT="137160" marB="137160" anchor="ctr"/>
                </a:tc>
                <a:extLst>
                  <a:ext uri="{0D108BD9-81ED-4DB2-BD59-A6C34878D82A}">
                    <a16:rowId xmlns:a16="http://schemas.microsoft.com/office/drawing/2014/main" val="1030080237"/>
                  </a:ext>
                </a:extLst>
              </a:tr>
              <a:tr h="2009429">
                <a:tc>
                  <a:txBody>
                    <a:bodyPr/>
                    <a:lstStyle/>
                    <a:p>
                      <a:pPr marL="0" algn="ctr" rtl="0" eaLnBrk="1" latinLnBrk="0" hangingPunct="1">
                        <a:buNone/>
                      </a:pPr>
                      <a:r>
                        <a:rPr lang="en-US" sz="2400" kern="1200">
                          <a:solidFill>
                            <a:srgbClr val="000000"/>
                          </a:solidFill>
                          <a:effectLst/>
                        </a:rPr>
                        <a:t>8</a:t>
                      </a: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Stepwise Migration of a Monolith to a Microservice Architecture: Performance and Migration Effort Evaluation (Faustino et al.,)</a:t>
                      </a:r>
                      <a:endParaRPr lang="en-US" sz="2400" b="0" i="0">
                        <a:latin typeface="Calibri"/>
                        <a:ea typeface="Calibri"/>
                        <a:cs typeface="Calibri"/>
                      </a:endParaRP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Evaluates stepwise migration using a modular monolith as an intermediate stage and measures migration effort and performance impact.</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Supports </a:t>
                      </a:r>
                      <a:r>
                        <a:rPr lang="en-US" sz="2400" b="0" i="0" u="none" strike="noStrike" kern="1200" noProof="0" err="1">
                          <a:solidFill>
                            <a:srgbClr val="000000"/>
                          </a:solidFill>
                          <a:effectLst/>
                          <a:latin typeface="Calibri"/>
                          <a:ea typeface="Calibri"/>
                          <a:cs typeface="Calibri"/>
                        </a:rPr>
                        <a:t>MonoMELT's</a:t>
                      </a:r>
                      <a:r>
                        <a:rPr lang="en-US" sz="2400" b="0" i="0" u="none" strike="noStrike" kern="1200" noProof="0">
                          <a:solidFill>
                            <a:srgbClr val="000000"/>
                          </a:solidFill>
                          <a:effectLst/>
                          <a:latin typeface="Calibri"/>
                          <a:ea typeface="Calibri"/>
                          <a:cs typeface="Calibri"/>
                        </a:rPr>
                        <a:t> phased migration roadmap, performance simulation, rollback planning and modular-monolith fallback recommendation.</a:t>
                      </a:r>
                      <a:endParaRPr lang="en-US" sz="2400"/>
                    </a:p>
                  </a:txBody>
                  <a:tcPr marL="137160" marR="137160" marT="137160" marB="137160" anchor="ctr"/>
                </a:tc>
                <a:tc>
                  <a:txBody>
                    <a:bodyPr/>
                    <a:lstStyle/>
                    <a:p>
                      <a:pPr marL="0" lvl="0" algn="l">
                        <a:buNone/>
                      </a:pPr>
                      <a:r>
                        <a:rPr lang="en-US" sz="2400" u="none" strike="noStrike" kern="1200" noProof="0">
                          <a:solidFill>
                            <a:srgbClr val="000000"/>
                          </a:solidFill>
                          <a:effectLst/>
                        </a:rPr>
                        <a:t>Provides the architectural foundation for </a:t>
                      </a:r>
                      <a:r>
                        <a:rPr lang="en-US" sz="2400" u="none" strike="noStrike" kern="1200" noProof="0" err="1">
                          <a:solidFill>
                            <a:srgbClr val="000000"/>
                          </a:solidFill>
                          <a:effectLst/>
                        </a:rPr>
                        <a:t>MonoMELT's</a:t>
                      </a:r>
                      <a:r>
                        <a:rPr lang="en-US" sz="2400" u="none" strike="noStrike" kern="1200" noProof="0">
                          <a:solidFill>
                            <a:srgbClr val="000000"/>
                          </a:solidFill>
                          <a:effectLst/>
                        </a:rPr>
                        <a:t> cloud-native recommendations</a:t>
                      </a:r>
                      <a:endParaRPr lang="en-US" sz="2400"/>
                    </a:p>
                  </a:txBody>
                  <a:tcPr marL="137160" marR="137160" marT="137160" marB="137160" anchor="ctr"/>
                </a:tc>
                <a:tc>
                  <a:txBody>
                    <a:bodyPr/>
                    <a:lstStyle/>
                    <a:p>
                      <a:pPr marL="0" algn="l" rtl="0" eaLnBrk="1" latinLnBrk="0" hangingPunct="1">
                        <a:buNone/>
                      </a:pPr>
                      <a:r>
                        <a:rPr lang="en-US" sz="2400" kern="1200">
                          <a:solidFill>
                            <a:srgbClr val="000000"/>
                          </a:solidFill>
                          <a:effectLst/>
                        </a:rPr>
                        <a:t>2024</a:t>
                      </a:r>
                    </a:p>
                  </a:txBody>
                  <a:tcPr marL="137160" marR="137160" marT="137160" marB="137160" anchor="ctr"/>
                </a:tc>
                <a:extLst>
                  <a:ext uri="{0D108BD9-81ED-4DB2-BD59-A6C34878D82A}">
                    <a16:rowId xmlns:a16="http://schemas.microsoft.com/office/drawing/2014/main" val="3376114694"/>
                  </a:ext>
                </a:extLst>
              </a:tr>
              <a:tr h="1663722">
                <a:tc>
                  <a:txBody>
                    <a:bodyPr/>
                    <a:lstStyle/>
                    <a:p>
                      <a:pPr marL="0" algn="ctr" rtl="0" eaLnBrk="1" latinLnBrk="0" hangingPunct="1">
                        <a:buNone/>
                      </a:pPr>
                      <a:r>
                        <a:rPr lang="en-US" sz="2400" kern="1200">
                          <a:solidFill>
                            <a:srgbClr val="000000"/>
                          </a:solidFill>
                          <a:effectLst/>
                        </a:rPr>
                        <a:t>9</a:t>
                      </a: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A Case Study on Monolith to Microservices Decomposition with Variational Autoencoder-Based Graph Neural Network </a:t>
                      </a:r>
                      <a:endParaRPr lang="en-US" sz="2400" b="0" i="0">
                        <a:latin typeface="Calibri"/>
                        <a:ea typeface="Calibri"/>
                        <a:cs typeface="Calibri"/>
                      </a:endParaRP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Uses static code analysis to create dependency graphs, a VAE to extract component features, and C-means clustering to identify candidate microservices.</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Focuses mainly on automated decomposition and clustering rather than cost, security, team ownership, infrastructure or end-to-end migration.</a:t>
                      </a:r>
                      <a:endParaRPr lang="en-US" sz="2400" b="0" i="0">
                        <a:latin typeface="Calibri"/>
                        <a:ea typeface="Calibri"/>
                        <a:cs typeface="Calibri"/>
                      </a:endParaRP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Strongly aligns with </a:t>
                      </a:r>
                      <a:r>
                        <a:rPr lang="en-US" sz="2400" b="0" i="0" u="none" strike="noStrike" kern="1200" noProof="0" err="1">
                          <a:solidFill>
                            <a:srgbClr val="000000"/>
                          </a:solidFill>
                          <a:effectLst/>
                          <a:latin typeface="Calibri"/>
                          <a:ea typeface="Calibri"/>
                          <a:cs typeface="Calibri"/>
                        </a:rPr>
                        <a:t>MonoMELT's</a:t>
                      </a:r>
                      <a:r>
                        <a:rPr lang="en-US" sz="2400" b="0" i="0" u="none" strike="noStrike" kern="1200" noProof="0">
                          <a:solidFill>
                            <a:srgbClr val="000000"/>
                          </a:solidFill>
                          <a:effectLst/>
                          <a:latin typeface="Calibri"/>
                          <a:ea typeface="Calibri"/>
                          <a:cs typeface="Calibri"/>
                        </a:rPr>
                        <a:t> AI-assisted decomposition, graph analysis and multiple candidate service boundaries.</a:t>
                      </a:r>
                      <a:endParaRPr lang="en-US" sz="2400"/>
                    </a:p>
                  </a:txBody>
                  <a:tcPr marL="137160" marR="137160" marT="137160" marB="137160" anchor="ctr"/>
                </a:tc>
                <a:tc>
                  <a:txBody>
                    <a:bodyPr/>
                    <a:lstStyle/>
                    <a:p>
                      <a:pPr marL="0" algn="l" rtl="0" eaLnBrk="1" latinLnBrk="0" hangingPunct="1">
                        <a:buNone/>
                      </a:pPr>
                      <a:r>
                        <a:rPr lang="en-US" sz="2400" kern="1200">
                          <a:solidFill>
                            <a:srgbClr val="000000"/>
                          </a:solidFill>
                          <a:effectLst/>
                        </a:rPr>
                        <a:t>2025</a:t>
                      </a:r>
                    </a:p>
                  </a:txBody>
                  <a:tcPr marL="137160" marR="137160" marT="137160" marB="137160" anchor="ctr"/>
                </a:tc>
                <a:extLst>
                  <a:ext uri="{0D108BD9-81ED-4DB2-BD59-A6C34878D82A}">
                    <a16:rowId xmlns:a16="http://schemas.microsoft.com/office/drawing/2014/main" val="1127117828"/>
                  </a:ext>
                </a:extLst>
              </a:tr>
              <a:tr h="2722453">
                <a:tc>
                  <a:txBody>
                    <a:bodyPr/>
                    <a:lstStyle/>
                    <a:p>
                      <a:pPr marL="0" algn="ctr" rtl="0" eaLnBrk="1" latinLnBrk="0" hangingPunct="1">
                        <a:buNone/>
                      </a:pPr>
                      <a:r>
                        <a:rPr lang="en-US" sz="2400" kern="1200">
                          <a:solidFill>
                            <a:srgbClr val="000000"/>
                          </a:solidFill>
                          <a:effectLst/>
                        </a:rPr>
                        <a:t>10</a:t>
                      </a: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Microservice Decomposition via Static and Dynamic Analysis of the Monolith (Krause et al.,)</a:t>
                      </a:r>
                      <a:endParaRPr lang="en-US" sz="2400">
                        <a:latin typeface="Calibri"/>
                        <a:ea typeface="Calibri"/>
                        <a:cs typeface="Calibri"/>
                      </a:endParaRPr>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Combines static analysis with runtime behavior and live trace visualization to identify suitable microservice boundaries in a legacy application.</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Requires runtime traces and domain knowledge; focuses primarily on decomposition rather than complete cloud migration planning.</a:t>
                      </a:r>
                      <a:endParaRPr lang="en-US" sz="2400"/>
                    </a:p>
                  </a:txBody>
                  <a:tcPr marL="137160" marR="137160" marT="137160" marB="137160" anchor="ctr"/>
                </a:tc>
                <a:tc>
                  <a:txBody>
                    <a:bodyPr/>
                    <a:lstStyle/>
                    <a:p>
                      <a:pPr marL="0" lvl="0" algn="l">
                        <a:buNone/>
                      </a:pPr>
                      <a:r>
                        <a:rPr lang="en-US" sz="2400" b="0" i="0" u="none" strike="noStrike" kern="1200" noProof="0">
                          <a:solidFill>
                            <a:srgbClr val="000000"/>
                          </a:solidFill>
                          <a:effectLst/>
                          <a:latin typeface="Calibri"/>
                          <a:ea typeface="Calibri"/>
                          <a:cs typeface="Calibri"/>
                        </a:rPr>
                        <a:t>Motivates </a:t>
                      </a:r>
                      <a:r>
                        <a:rPr lang="en-US" sz="2400" b="0" i="0" u="none" strike="noStrike" kern="1200" noProof="0" err="1">
                          <a:solidFill>
                            <a:srgbClr val="000000"/>
                          </a:solidFill>
                          <a:effectLst/>
                          <a:latin typeface="Calibri"/>
                          <a:ea typeface="Calibri"/>
                          <a:cs typeface="Calibri"/>
                        </a:rPr>
                        <a:t>MonoMELT's</a:t>
                      </a:r>
                      <a:r>
                        <a:rPr lang="en-US" sz="2400" b="0" i="0" u="none" strike="noStrike" kern="1200" noProof="0">
                          <a:solidFill>
                            <a:srgbClr val="000000"/>
                          </a:solidFill>
                          <a:effectLst/>
                          <a:latin typeface="Calibri"/>
                          <a:ea typeface="Calibri"/>
                          <a:cs typeface="Calibri"/>
                        </a:rPr>
                        <a:t> dependency graph, data-flow analysis and performance-aware decomposition capabilities.</a:t>
                      </a:r>
                      <a:endParaRPr lang="en-US" sz="2400">
                        <a:latin typeface="Calibri"/>
                        <a:ea typeface="Calibri"/>
                        <a:cs typeface="Calibri"/>
                      </a:endParaRPr>
                    </a:p>
                  </a:txBody>
                  <a:tcPr marL="137160" marR="137160" marT="137160" marB="137160" anchor="ctr"/>
                </a:tc>
                <a:tc>
                  <a:txBody>
                    <a:bodyPr/>
                    <a:lstStyle/>
                    <a:p>
                      <a:pPr marL="0" algn="l" rtl="0" eaLnBrk="1" latinLnBrk="0" hangingPunct="1">
                        <a:buNone/>
                      </a:pPr>
                      <a:r>
                        <a:rPr lang="en-US" sz="2400" kern="1200">
                          <a:solidFill>
                            <a:srgbClr val="000000"/>
                          </a:solidFill>
                          <a:effectLst/>
                        </a:rPr>
                        <a:t>2020</a:t>
                      </a:r>
                    </a:p>
                  </a:txBody>
                  <a:tcPr marL="137160" marR="137160" marT="137160" marB="137160" anchor="ctr"/>
                </a:tc>
                <a:extLst>
                  <a:ext uri="{0D108BD9-81ED-4DB2-BD59-A6C34878D82A}">
                    <a16:rowId xmlns:a16="http://schemas.microsoft.com/office/drawing/2014/main" val="1303049020"/>
                  </a:ext>
                </a:extLst>
              </a:tr>
            </a:tbl>
          </a:graphicData>
        </a:graphic>
      </p:graphicFrame>
    </p:spTree>
    <p:extLst>
      <p:ext uri="{BB962C8B-B14F-4D97-AF65-F5344CB8AC3E}">
        <p14:creationId xmlns:p14="http://schemas.microsoft.com/office/powerpoint/2010/main" val="4263163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a:off x="1573330" y="1332249"/>
            <a:ext cx="16714740" cy="10818995"/>
          </a:xfrm>
          <a:custGeom>
            <a:avLst/>
            <a:gdLst/>
            <a:ahLst/>
            <a:cxnLst/>
            <a:rect l="l" t="t" r="r" b="b"/>
            <a:pathLst>
              <a:path w="16714740" h="10818995">
                <a:moveTo>
                  <a:pt x="0" y="0"/>
                </a:moveTo>
                <a:lnTo>
                  <a:pt x="16714740" y="0"/>
                </a:lnTo>
                <a:lnTo>
                  <a:pt x="16714740" y="10818995"/>
                </a:lnTo>
                <a:lnTo>
                  <a:pt x="0" y="10818995"/>
                </a:lnTo>
                <a:lnTo>
                  <a:pt x="0" y="0"/>
                </a:lnTo>
                <a:close/>
              </a:path>
            </a:pathLst>
          </a:custGeom>
          <a:blipFill>
            <a:blip r:embed="rId2">
              <a:alphaModFix amt="24000"/>
            </a:blip>
            <a:stretch>
              <a:fillRect/>
            </a:stretch>
          </a:blipFill>
        </p:spPr>
      </p:sp>
      <p:sp>
        <p:nvSpPr>
          <p:cNvPr id="3" name="TextBox 3"/>
          <p:cNvSpPr txBox="1"/>
          <p:nvPr/>
        </p:nvSpPr>
        <p:spPr>
          <a:xfrm>
            <a:off x="937260" y="1057770"/>
            <a:ext cx="10927080" cy="1320874"/>
          </a:xfrm>
          <a:prstGeom prst="rect">
            <a:avLst/>
          </a:prstGeom>
        </p:spPr>
        <p:txBody>
          <a:bodyPr wrap="square" lIns="0" tIns="0" rIns="0" bIns="0" rtlCol="0" anchor="t">
            <a:spAutoFit/>
          </a:bodyPr>
          <a:lstStyle/>
          <a:p>
            <a:pPr>
              <a:lnSpc>
                <a:spcPts val="10307"/>
              </a:lnSpc>
            </a:pPr>
            <a:r>
              <a:rPr lang="en-US" sz="9600" b="1" spc="-515">
                <a:solidFill>
                  <a:srgbClr val="424242"/>
                </a:solidFill>
                <a:latin typeface="Open Sauce Heavy"/>
                <a:ea typeface="Open Sauce Heavy"/>
                <a:cs typeface="Open Sauce Heavy"/>
              </a:rPr>
              <a:t>Research Gap</a:t>
            </a:r>
          </a:p>
        </p:txBody>
      </p:sp>
      <p:grpSp>
        <p:nvGrpSpPr>
          <p:cNvPr id="4" name="Group 4"/>
          <p:cNvGrpSpPr/>
          <p:nvPr/>
        </p:nvGrpSpPr>
        <p:grpSpPr>
          <a:xfrm>
            <a:off x="901975" y="3061729"/>
            <a:ext cx="7428904" cy="2998333"/>
            <a:chOff x="0" y="0"/>
            <a:chExt cx="1956584" cy="789684"/>
          </a:xfrm>
        </p:grpSpPr>
        <p:sp>
          <p:nvSpPr>
            <p:cNvPr id="5" name="Freeform 5"/>
            <p:cNvSpPr/>
            <p:nvPr/>
          </p:nvSpPr>
          <p:spPr>
            <a:xfrm>
              <a:off x="0" y="0"/>
              <a:ext cx="1956584" cy="789684"/>
            </a:xfrm>
            <a:custGeom>
              <a:avLst/>
              <a:gdLst/>
              <a:ahLst/>
              <a:cxnLst/>
              <a:rect l="l" t="t" r="r" b="b"/>
              <a:pathLst>
                <a:path w="1956584" h="7896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1">
              <a:gsLst>
                <a:gs pos="0">
                  <a:srgbClr val="A0CEFD">
                    <a:alpha val="100000"/>
                  </a:srgbClr>
                </a:gs>
                <a:gs pos="100000">
                  <a:srgbClr val="E4F2FF">
                    <a:alpha val="100000"/>
                  </a:srgbClr>
                </a:gs>
              </a:gsLst>
              <a:lin ang="0"/>
            </a:gradFill>
            <a:ln w="19050" cap="rnd">
              <a:solidFill>
                <a:srgbClr val="424242"/>
              </a:solidFill>
              <a:prstDash val="solid"/>
              <a:round/>
            </a:ln>
          </p:spPr>
        </p:sp>
        <p:sp>
          <p:nvSpPr>
            <p:cNvPr id="6" name="TextBox 6"/>
            <p:cNvSpPr txBox="1"/>
            <p:nvPr/>
          </p:nvSpPr>
          <p:spPr>
            <a:xfrm>
              <a:off x="0" y="-28575"/>
              <a:ext cx="1956584" cy="818259"/>
            </a:xfrm>
            <a:prstGeom prst="rect">
              <a:avLst/>
            </a:prstGeom>
          </p:spPr>
          <p:txBody>
            <a:bodyPr lIns="50800" tIns="50800" rIns="50800" bIns="50800" rtlCol="0" anchor="ctr"/>
            <a:lstStyle/>
            <a:p>
              <a:pPr algn="ctr">
                <a:lnSpc>
                  <a:spcPts val="2015"/>
                </a:lnSpc>
              </a:pPr>
              <a:endParaRPr/>
            </a:p>
          </p:txBody>
        </p:sp>
      </p:grpSp>
      <p:grpSp>
        <p:nvGrpSpPr>
          <p:cNvPr id="7" name="Group 7"/>
          <p:cNvGrpSpPr/>
          <p:nvPr/>
        </p:nvGrpSpPr>
        <p:grpSpPr>
          <a:xfrm>
            <a:off x="1177090" y="3256012"/>
            <a:ext cx="1154202" cy="804358"/>
            <a:chOff x="0" y="0"/>
            <a:chExt cx="303987" cy="211847"/>
          </a:xfrm>
        </p:grpSpPr>
        <p:sp>
          <p:nvSpPr>
            <p:cNvPr id="8" name="Freeform 8"/>
            <p:cNvSpPr/>
            <p:nvPr/>
          </p:nvSpPr>
          <p:spPr>
            <a:xfrm>
              <a:off x="0" y="0"/>
              <a:ext cx="303987" cy="211847"/>
            </a:xfrm>
            <a:custGeom>
              <a:avLst/>
              <a:gdLst/>
              <a:ahLst/>
              <a:cxnLst/>
              <a:rect l="l" t="t" r="r" b="b"/>
              <a:pathLst>
                <a:path w="303987" h="21184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id="9" name="TextBox 9"/>
            <p:cNvSpPr txBox="1"/>
            <p:nvPr/>
          </p:nvSpPr>
          <p:spPr>
            <a:xfrm>
              <a:off x="0" y="-28575"/>
              <a:ext cx="303987" cy="240422"/>
            </a:xfrm>
            <a:prstGeom prst="rect">
              <a:avLst/>
            </a:prstGeom>
          </p:spPr>
          <p:txBody>
            <a:bodyPr lIns="50800" tIns="50800" rIns="50800" bIns="50800" rtlCol="0" anchor="ctr"/>
            <a:lstStyle/>
            <a:p>
              <a:pPr algn="ctr">
                <a:lnSpc>
                  <a:spcPts val="2015"/>
                </a:lnSpc>
              </a:pPr>
              <a:endParaRPr/>
            </a:p>
          </p:txBody>
        </p:sp>
      </p:grpSp>
      <p:grpSp>
        <p:nvGrpSpPr>
          <p:cNvPr id="10" name="Group 10"/>
          <p:cNvGrpSpPr/>
          <p:nvPr/>
        </p:nvGrpSpPr>
        <p:grpSpPr>
          <a:xfrm>
            <a:off x="2134070" y="6507737"/>
            <a:ext cx="7428904" cy="2998333"/>
            <a:chOff x="0" y="0"/>
            <a:chExt cx="1956584" cy="789684"/>
          </a:xfrm>
        </p:grpSpPr>
        <p:sp>
          <p:nvSpPr>
            <p:cNvPr id="11" name="Freeform 11"/>
            <p:cNvSpPr/>
            <p:nvPr/>
          </p:nvSpPr>
          <p:spPr>
            <a:xfrm>
              <a:off x="0" y="0"/>
              <a:ext cx="1956584" cy="789684"/>
            </a:xfrm>
            <a:custGeom>
              <a:avLst/>
              <a:gdLst/>
              <a:ahLst/>
              <a:cxnLst/>
              <a:rect l="l" t="t" r="r" b="b"/>
              <a:pathLst>
                <a:path w="1956584" h="7896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solidFill>
              <a:srgbClr val="D0D7DD"/>
            </a:solidFill>
            <a:ln w="19050" cap="rnd">
              <a:solidFill>
                <a:srgbClr val="424242"/>
              </a:solidFill>
              <a:prstDash val="solid"/>
              <a:round/>
            </a:ln>
          </p:spPr>
        </p:sp>
        <p:sp>
          <p:nvSpPr>
            <p:cNvPr id="12" name="TextBox 12"/>
            <p:cNvSpPr txBox="1"/>
            <p:nvPr/>
          </p:nvSpPr>
          <p:spPr>
            <a:xfrm>
              <a:off x="0" y="-28575"/>
              <a:ext cx="1956584" cy="818259"/>
            </a:xfrm>
            <a:prstGeom prst="rect">
              <a:avLst/>
            </a:prstGeom>
          </p:spPr>
          <p:txBody>
            <a:bodyPr lIns="50800" tIns="50800" rIns="50800" bIns="50800" rtlCol="0" anchor="ctr"/>
            <a:lstStyle/>
            <a:p>
              <a:pPr algn="ctr">
                <a:lnSpc>
                  <a:spcPts val="2015"/>
                </a:lnSpc>
              </a:pPr>
              <a:endParaRPr/>
            </a:p>
          </p:txBody>
        </p:sp>
      </p:grpSp>
      <p:grpSp>
        <p:nvGrpSpPr>
          <p:cNvPr id="13" name="Group 13"/>
          <p:cNvGrpSpPr/>
          <p:nvPr/>
        </p:nvGrpSpPr>
        <p:grpSpPr>
          <a:xfrm>
            <a:off x="8784269" y="3061729"/>
            <a:ext cx="7428904" cy="2998333"/>
            <a:chOff x="0" y="0"/>
            <a:chExt cx="1956584" cy="789684"/>
          </a:xfrm>
        </p:grpSpPr>
        <p:sp>
          <p:nvSpPr>
            <p:cNvPr id="14" name="Freeform 14"/>
            <p:cNvSpPr/>
            <p:nvPr/>
          </p:nvSpPr>
          <p:spPr>
            <a:xfrm>
              <a:off x="0" y="0"/>
              <a:ext cx="1956584" cy="789684"/>
            </a:xfrm>
            <a:custGeom>
              <a:avLst/>
              <a:gdLst/>
              <a:ahLst/>
              <a:cxnLst/>
              <a:rect l="l" t="t" r="r" b="b"/>
              <a:pathLst>
                <a:path w="1956584" h="7896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solidFill>
              <a:srgbClr val="D0D7DD"/>
            </a:solidFill>
            <a:ln w="19050" cap="rnd">
              <a:solidFill>
                <a:srgbClr val="424242"/>
              </a:solidFill>
              <a:prstDash val="solid"/>
              <a:round/>
            </a:ln>
          </p:spPr>
        </p:sp>
        <p:sp>
          <p:nvSpPr>
            <p:cNvPr id="15" name="TextBox 15"/>
            <p:cNvSpPr txBox="1"/>
            <p:nvPr/>
          </p:nvSpPr>
          <p:spPr>
            <a:xfrm>
              <a:off x="0" y="-28575"/>
              <a:ext cx="1956584" cy="818259"/>
            </a:xfrm>
            <a:prstGeom prst="rect">
              <a:avLst/>
            </a:prstGeom>
          </p:spPr>
          <p:txBody>
            <a:bodyPr lIns="50800" tIns="50800" rIns="50800" bIns="50800" rtlCol="0" anchor="ctr"/>
            <a:lstStyle/>
            <a:p>
              <a:pPr algn="ctr">
                <a:lnSpc>
                  <a:spcPts val="2015"/>
                </a:lnSpc>
              </a:pPr>
              <a:endParaRPr/>
            </a:p>
          </p:txBody>
        </p:sp>
      </p:grpSp>
      <p:grpSp>
        <p:nvGrpSpPr>
          <p:cNvPr id="16" name="Group 16"/>
          <p:cNvGrpSpPr/>
          <p:nvPr/>
        </p:nvGrpSpPr>
        <p:grpSpPr>
          <a:xfrm>
            <a:off x="9062075" y="3256012"/>
            <a:ext cx="1154202" cy="804358"/>
            <a:chOff x="0" y="0"/>
            <a:chExt cx="303987" cy="211847"/>
          </a:xfrm>
        </p:grpSpPr>
        <p:sp>
          <p:nvSpPr>
            <p:cNvPr id="17" name="Freeform 17"/>
            <p:cNvSpPr/>
            <p:nvPr/>
          </p:nvSpPr>
          <p:spPr>
            <a:xfrm>
              <a:off x="0" y="0"/>
              <a:ext cx="303987" cy="211847"/>
            </a:xfrm>
            <a:custGeom>
              <a:avLst/>
              <a:gdLst/>
              <a:ahLst/>
              <a:cxnLst/>
              <a:rect l="l" t="t" r="r" b="b"/>
              <a:pathLst>
                <a:path w="303987" h="21184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id="18" name="TextBox 18"/>
            <p:cNvSpPr txBox="1"/>
            <p:nvPr/>
          </p:nvSpPr>
          <p:spPr>
            <a:xfrm>
              <a:off x="0" y="-28575"/>
              <a:ext cx="303987" cy="240422"/>
            </a:xfrm>
            <a:prstGeom prst="rect">
              <a:avLst/>
            </a:prstGeom>
          </p:spPr>
          <p:txBody>
            <a:bodyPr lIns="50800" tIns="50800" rIns="50800" bIns="50800" rtlCol="0" anchor="ctr"/>
            <a:lstStyle/>
            <a:p>
              <a:pPr algn="ctr">
                <a:lnSpc>
                  <a:spcPts val="2015"/>
                </a:lnSpc>
              </a:pPr>
              <a:endParaRPr/>
            </a:p>
          </p:txBody>
        </p:sp>
      </p:grpSp>
      <p:grpSp>
        <p:nvGrpSpPr>
          <p:cNvPr id="19" name="Group 19"/>
          <p:cNvGrpSpPr/>
          <p:nvPr/>
        </p:nvGrpSpPr>
        <p:grpSpPr>
          <a:xfrm>
            <a:off x="2482073" y="6736337"/>
            <a:ext cx="1154202" cy="804358"/>
            <a:chOff x="0" y="0"/>
            <a:chExt cx="303987" cy="211847"/>
          </a:xfrm>
        </p:grpSpPr>
        <p:sp>
          <p:nvSpPr>
            <p:cNvPr id="20" name="Freeform 20"/>
            <p:cNvSpPr/>
            <p:nvPr/>
          </p:nvSpPr>
          <p:spPr>
            <a:xfrm>
              <a:off x="0" y="0"/>
              <a:ext cx="303987" cy="211847"/>
            </a:xfrm>
            <a:custGeom>
              <a:avLst/>
              <a:gdLst/>
              <a:ahLst/>
              <a:cxnLst/>
              <a:rect l="l" t="t" r="r" b="b"/>
              <a:pathLst>
                <a:path w="303987" h="21184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id="21" name="TextBox 21"/>
            <p:cNvSpPr txBox="1"/>
            <p:nvPr/>
          </p:nvSpPr>
          <p:spPr>
            <a:xfrm>
              <a:off x="0" y="-28575"/>
              <a:ext cx="303987" cy="240422"/>
            </a:xfrm>
            <a:prstGeom prst="rect">
              <a:avLst/>
            </a:prstGeom>
          </p:spPr>
          <p:txBody>
            <a:bodyPr lIns="50800" tIns="50800" rIns="50800" bIns="50800" rtlCol="0" anchor="ctr"/>
            <a:lstStyle/>
            <a:p>
              <a:pPr algn="ctr">
                <a:lnSpc>
                  <a:spcPts val="2015"/>
                </a:lnSpc>
              </a:pPr>
              <a:endParaRPr/>
            </a:p>
          </p:txBody>
        </p:sp>
      </p:grpSp>
      <p:sp>
        <p:nvSpPr>
          <p:cNvPr id="22" name="TextBox 22"/>
          <p:cNvSpPr txBox="1"/>
          <p:nvPr/>
        </p:nvSpPr>
        <p:spPr>
          <a:xfrm>
            <a:off x="9214039" y="3484462"/>
            <a:ext cx="819524" cy="452247"/>
          </a:xfrm>
          <a:prstGeom prst="rect">
            <a:avLst/>
          </a:prstGeom>
        </p:spPr>
        <p:txBody>
          <a:bodyPr lIns="0" tIns="0" rIns="0" bIns="0" rtlCol="0" anchor="t">
            <a:spAutoFit/>
          </a:bodyPr>
          <a:lstStyle/>
          <a:p>
            <a:pPr algn="ctr">
              <a:lnSpc>
                <a:spcPts val="3383"/>
              </a:lnSpc>
            </a:pPr>
            <a:r>
              <a:rPr lang="en-US" sz="3600" b="1" spc="-169">
                <a:solidFill>
                  <a:srgbClr val="424242"/>
                </a:solidFill>
                <a:latin typeface="Open Sauce Heavy"/>
                <a:ea typeface="Open Sauce Heavy"/>
                <a:cs typeface="Open Sauce Heavy"/>
                <a:sym typeface="Open Sauce Heavy"/>
              </a:rPr>
              <a:t>02</a:t>
            </a:r>
          </a:p>
        </p:txBody>
      </p:sp>
      <p:sp>
        <p:nvSpPr>
          <p:cNvPr id="23" name="TextBox 23"/>
          <p:cNvSpPr txBox="1"/>
          <p:nvPr/>
        </p:nvSpPr>
        <p:spPr>
          <a:xfrm>
            <a:off x="2634037" y="6964786"/>
            <a:ext cx="819524" cy="452247"/>
          </a:xfrm>
          <a:prstGeom prst="rect">
            <a:avLst/>
          </a:prstGeom>
        </p:spPr>
        <p:txBody>
          <a:bodyPr lIns="0" tIns="0" rIns="0" bIns="0" rtlCol="0" anchor="t">
            <a:spAutoFit/>
          </a:bodyPr>
          <a:lstStyle/>
          <a:p>
            <a:pPr algn="ctr">
              <a:lnSpc>
                <a:spcPts val="3383"/>
              </a:lnSpc>
            </a:pPr>
            <a:r>
              <a:rPr lang="en-US" sz="3600" b="1" spc="-169">
                <a:solidFill>
                  <a:srgbClr val="424242"/>
                </a:solidFill>
                <a:latin typeface="Open Sauce Heavy"/>
                <a:ea typeface="Open Sauce Heavy"/>
                <a:cs typeface="Open Sauce Heavy"/>
                <a:sym typeface="Open Sauce Heavy"/>
              </a:rPr>
              <a:t>03</a:t>
            </a:r>
          </a:p>
        </p:txBody>
      </p:sp>
      <p:sp>
        <p:nvSpPr>
          <p:cNvPr id="24" name="TextBox 24"/>
          <p:cNvSpPr txBox="1"/>
          <p:nvPr/>
        </p:nvSpPr>
        <p:spPr>
          <a:xfrm>
            <a:off x="10503208" y="3277763"/>
            <a:ext cx="4815344" cy="872034"/>
          </a:xfrm>
          <a:prstGeom prst="rect">
            <a:avLst/>
          </a:prstGeom>
        </p:spPr>
        <p:txBody>
          <a:bodyPr lIns="0" tIns="0" rIns="0" bIns="0" rtlCol="0" anchor="t">
            <a:spAutoFit/>
          </a:bodyPr>
          <a:lstStyle/>
          <a:p>
            <a:pPr>
              <a:lnSpc>
                <a:spcPts val="3383"/>
              </a:lnSpc>
            </a:pPr>
            <a:r>
              <a:rPr lang="en-US" sz="3200" b="1" spc="-169">
                <a:solidFill>
                  <a:srgbClr val="424242"/>
                </a:solidFill>
                <a:ea typeface="+mn-lt"/>
                <a:cs typeface="+mn-lt"/>
                <a:sym typeface="Open Sauce Heavy"/>
              </a:rPr>
              <a:t>Limited Context Understanding of Application Architecture</a:t>
            </a:r>
            <a:endParaRPr lang="en-US" sz="3200" b="1">
              <a:ea typeface="Calibri"/>
              <a:cs typeface="Calibri"/>
            </a:endParaRPr>
          </a:p>
        </p:txBody>
      </p:sp>
      <p:sp>
        <p:nvSpPr>
          <p:cNvPr id="25" name="TextBox 25"/>
          <p:cNvSpPr txBox="1"/>
          <p:nvPr/>
        </p:nvSpPr>
        <p:spPr>
          <a:xfrm>
            <a:off x="3816526" y="6681887"/>
            <a:ext cx="4815344" cy="872034"/>
          </a:xfrm>
          <a:prstGeom prst="rect">
            <a:avLst/>
          </a:prstGeom>
        </p:spPr>
        <p:txBody>
          <a:bodyPr lIns="0" tIns="0" rIns="0" bIns="0" rtlCol="0" anchor="t">
            <a:spAutoFit/>
          </a:bodyPr>
          <a:lstStyle/>
          <a:p>
            <a:pPr>
              <a:lnSpc>
                <a:spcPts val="3383"/>
              </a:lnSpc>
            </a:pPr>
            <a:r>
              <a:rPr lang="en-US" sz="3200" b="1" spc="-169">
                <a:solidFill>
                  <a:srgbClr val="424242"/>
                </a:solidFill>
                <a:ea typeface="+mn-lt"/>
                <a:cs typeface="+mn-lt"/>
                <a:sym typeface="Open Sauce Heavy"/>
              </a:rPr>
              <a:t>Insufficient Migration Strategy and Decision Support</a:t>
            </a:r>
            <a:endParaRPr lang="en-US" sz="1600" b="1">
              <a:ea typeface="Calibri"/>
              <a:cs typeface="Calibri"/>
            </a:endParaRPr>
          </a:p>
        </p:txBody>
      </p:sp>
      <p:grpSp>
        <p:nvGrpSpPr>
          <p:cNvPr id="26" name="Group 26"/>
          <p:cNvGrpSpPr/>
          <p:nvPr/>
        </p:nvGrpSpPr>
        <p:grpSpPr>
          <a:xfrm>
            <a:off x="10016364" y="6507737"/>
            <a:ext cx="7428904" cy="2998333"/>
            <a:chOff x="0" y="0"/>
            <a:chExt cx="1956584" cy="789684"/>
          </a:xfrm>
        </p:grpSpPr>
        <p:sp>
          <p:nvSpPr>
            <p:cNvPr id="27" name="Freeform 27"/>
            <p:cNvSpPr/>
            <p:nvPr/>
          </p:nvSpPr>
          <p:spPr>
            <a:xfrm>
              <a:off x="0" y="0"/>
              <a:ext cx="1956584" cy="789684"/>
            </a:xfrm>
            <a:custGeom>
              <a:avLst/>
              <a:gdLst/>
              <a:ahLst/>
              <a:cxnLst/>
              <a:rect l="l" t="t" r="r" b="b"/>
              <a:pathLst>
                <a:path w="1956584" h="7896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1">
              <a:gsLst>
                <a:gs pos="0">
                  <a:srgbClr val="A0CEFD">
                    <a:alpha val="100000"/>
                  </a:srgbClr>
                </a:gs>
                <a:gs pos="100000">
                  <a:srgbClr val="E4F2FF">
                    <a:alpha val="100000"/>
                  </a:srgbClr>
                </a:gs>
              </a:gsLst>
              <a:lin ang="0"/>
            </a:gradFill>
            <a:ln w="19050" cap="rnd">
              <a:solidFill>
                <a:srgbClr val="424242"/>
              </a:solidFill>
              <a:prstDash val="solid"/>
              <a:round/>
            </a:ln>
          </p:spPr>
        </p:sp>
        <p:sp>
          <p:nvSpPr>
            <p:cNvPr id="28" name="TextBox 28"/>
            <p:cNvSpPr txBox="1"/>
            <p:nvPr/>
          </p:nvSpPr>
          <p:spPr>
            <a:xfrm>
              <a:off x="0" y="-28575"/>
              <a:ext cx="1956584" cy="818259"/>
            </a:xfrm>
            <a:prstGeom prst="rect">
              <a:avLst/>
            </a:prstGeom>
          </p:spPr>
          <p:txBody>
            <a:bodyPr lIns="50800" tIns="50800" rIns="50800" bIns="50800" rtlCol="0" anchor="ctr"/>
            <a:lstStyle/>
            <a:p>
              <a:pPr algn="ctr">
                <a:lnSpc>
                  <a:spcPts val="2015"/>
                </a:lnSpc>
              </a:pPr>
              <a:endParaRPr/>
            </a:p>
          </p:txBody>
        </p:sp>
      </p:grpSp>
      <p:grpSp>
        <p:nvGrpSpPr>
          <p:cNvPr id="29" name="Group 29"/>
          <p:cNvGrpSpPr/>
          <p:nvPr/>
        </p:nvGrpSpPr>
        <p:grpSpPr>
          <a:xfrm>
            <a:off x="10345740" y="6736337"/>
            <a:ext cx="1154202" cy="804358"/>
            <a:chOff x="0" y="0"/>
            <a:chExt cx="303987" cy="211847"/>
          </a:xfrm>
        </p:grpSpPr>
        <p:sp>
          <p:nvSpPr>
            <p:cNvPr id="30" name="Freeform 30"/>
            <p:cNvSpPr/>
            <p:nvPr/>
          </p:nvSpPr>
          <p:spPr>
            <a:xfrm>
              <a:off x="0" y="0"/>
              <a:ext cx="303987" cy="211847"/>
            </a:xfrm>
            <a:custGeom>
              <a:avLst/>
              <a:gdLst/>
              <a:ahLst/>
              <a:cxnLst/>
              <a:rect l="l" t="t" r="r" b="b"/>
              <a:pathLst>
                <a:path w="303987" h="21184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id="31" name="TextBox 31"/>
            <p:cNvSpPr txBox="1"/>
            <p:nvPr/>
          </p:nvSpPr>
          <p:spPr>
            <a:xfrm>
              <a:off x="0" y="-28575"/>
              <a:ext cx="303987" cy="240422"/>
            </a:xfrm>
            <a:prstGeom prst="rect">
              <a:avLst/>
            </a:prstGeom>
          </p:spPr>
          <p:txBody>
            <a:bodyPr lIns="50800" tIns="50800" rIns="50800" bIns="50800" rtlCol="0" anchor="ctr"/>
            <a:lstStyle/>
            <a:p>
              <a:pPr algn="ctr">
                <a:lnSpc>
                  <a:spcPts val="2015"/>
                </a:lnSpc>
              </a:pPr>
              <a:endParaRPr/>
            </a:p>
          </p:txBody>
        </p:sp>
      </p:grpSp>
      <p:sp>
        <p:nvSpPr>
          <p:cNvPr id="32" name="TextBox 32"/>
          <p:cNvSpPr txBox="1"/>
          <p:nvPr/>
        </p:nvSpPr>
        <p:spPr>
          <a:xfrm>
            <a:off x="10497704" y="6964786"/>
            <a:ext cx="819524" cy="452247"/>
          </a:xfrm>
          <a:prstGeom prst="rect">
            <a:avLst/>
          </a:prstGeom>
        </p:spPr>
        <p:txBody>
          <a:bodyPr lIns="0" tIns="0" rIns="0" bIns="0" rtlCol="0" anchor="t">
            <a:spAutoFit/>
          </a:bodyPr>
          <a:lstStyle/>
          <a:p>
            <a:pPr algn="ctr">
              <a:lnSpc>
                <a:spcPts val="3383"/>
              </a:lnSpc>
            </a:pPr>
            <a:r>
              <a:rPr lang="en-US" sz="3600" b="1" spc="-169">
                <a:solidFill>
                  <a:srgbClr val="424242"/>
                </a:solidFill>
                <a:latin typeface="Open Sauce Heavy"/>
                <a:ea typeface="Open Sauce Heavy"/>
                <a:cs typeface="Open Sauce Heavy"/>
                <a:sym typeface="Open Sauce Heavy"/>
              </a:rPr>
              <a:t>04</a:t>
            </a:r>
          </a:p>
        </p:txBody>
      </p:sp>
      <p:sp>
        <p:nvSpPr>
          <p:cNvPr id="33" name="TextBox 33"/>
          <p:cNvSpPr txBox="1"/>
          <p:nvPr/>
        </p:nvSpPr>
        <p:spPr>
          <a:xfrm>
            <a:off x="11664953" y="6666647"/>
            <a:ext cx="4815344" cy="1308050"/>
          </a:xfrm>
          <a:prstGeom prst="rect">
            <a:avLst/>
          </a:prstGeom>
        </p:spPr>
        <p:txBody>
          <a:bodyPr lIns="0" tIns="0" rIns="0" bIns="0" rtlCol="0" anchor="t">
            <a:spAutoFit/>
          </a:bodyPr>
          <a:lstStyle/>
          <a:p>
            <a:pPr>
              <a:lnSpc>
                <a:spcPts val="3383"/>
              </a:lnSpc>
            </a:pPr>
            <a:r>
              <a:rPr lang="en-US" sz="3200" b="1" spc="-169">
                <a:solidFill>
                  <a:srgbClr val="424242"/>
                </a:solidFill>
                <a:ea typeface="+mn-lt"/>
                <a:cs typeface="+mn-lt"/>
                <a:sym typeface="Open Sauce Heavy"/>
              </a:rPr>
              <a:t>Lack of Cloud-Aware Deployment and Infrastructure Planning</a:t>
            </a:r>
            <a:endParaRPr lang="en-US" sz="3200" b="1" spc="-169">
              <a:solidFill>
                <a:srgbClr val="424242"/>
              </a:solidFill>
              <a:ea typeface="+mn-lt"/>
              <a:cs typeface="+mn-lt"/>
            </a:endParaRPr>
          </a:p>
        </p:txBody>
      </p:sp>
      <p:sp>
        <p:nvSpPr>
          <p:cNvPr id="35" name="TextBox 35"/>
          <p:cNvSpPr txBox="1"/>
          <p:nvPr/>
        </p:nvSpPr>
        <p:spPr>
          <a:xfrm>
            <a:off x="1329054" y="3484462"/>
            <a:ext cx="819524" cy="452247"/>
          </a:xfrm>
          <a:prstGeom prst="rect">
            <a:avLst/>
          </a:prstGeom>
        </p:spPr>
        <p:txBody>
          <a:bodyPr lIns="0" tIns="0" rIns="0" bIns="0" rtlCol="0" anchor="t">
            <a:spAutoFit/>
          </a:bodyPr>
          <a:lstStyle/>
          <a:p>
            <a:pPr algn="ctr">
              <a:lnSpc>
                <a:spcPts val="3383"/>
              </a:lnSpc>
            </a:pPr>
            <a:r>
              <a:rPr lang="en-US" sz="3600" b="1" spc="-169">
                <a:solidFill>
                  <a:srgbClr val="424242"/>
                </a:solidFill>
                <a:latin typeface="Open Sauce Heavy"/>
                <a:ea typeface="Open Sauce Heavy"/>
                <a:cs typeface="Open Sauce Heavy"/>
                <a:sym typeface="Open Sauce Heavy"/>
              </a:rPr>
              <a:t>01</a:t>
            </a:r>
          </a:p>
        </p:txBody>
      </p:sp>
      <p:sp>
        <p:nvSpPr>
          <p:cNvPr id="36" name="TextBox 36"/>
          <p:cNvSpPr txBox="1"/>
          <p:nvPr/>
        </p:nvSpPr>
        <p:spPr>
          <a:xfrm>
            <a:off x="2481063" y="3232043"/>
            <a:ext cx="4815344" cy="872034"/>
          </a:xfrm>
          <a:prstGeom prst="rect">
            <a:avLst/>
          </a:prstGeom>
        </p:spPr>
        <p:txBody>
          <a:bodyPr lIns="0" tIns="0" rIns="0" bIns="0" rtlCol="0" anchor="t">
            <a:spAutoFit/>
          </a:bodyPr>
          <a:lstStyle/>
          <a:p>
            <a:pPr>
              <a:lnSpc>
                <a:spcPts val="3383"/>
              </a:lnSpc>
            </a:pPr>
            <a:r>
              <a:rPr lang="en-US" sz="3200" b="1" spc="-169">
                <a:solidFill>
                  <a:srgbClr val="424242"/>
                </a:solidFill>
                <a:ea typeface="+mn-lt"/>
                <a:cs typeface="+mn-lt"/>
                <a:sym typeface="Open Sauce Heavy"/>
              </a:rPr>
              <a:t>Lack of End-to-End Automated Migration Intelligence</a:t>
            </a:r>
            <a:endParaRPr lang="en-US" sz="3200">
              <a:ea typeface="Calibri"/>
              <a:cs typeface="Calibri"/>
            </a:endParaRPr>
          </a:p>
        </p:txBody>
      </p:sp>
      <p:sp>
        <p:nvSpPr>
          <p:cNvPr id="40" name="TextBox 39">
            <a:extLst>
              <a:ext uri="{FF2B5EF4-FFF2-40B4-BE49-F238E27FC236}">
                <a16:creationId xmlns:a16="http://schemas.microsoft.com/office/drawing/2014/main" id="{30872C2C-11D4-9893-D17C-03A504260425}"/>
              </a:ext>
            </a:extLst>
          </p:cNvPr>
          <p:cNvSpPr txBox="1"/>
          <p:nvPr/>
        </p:nvSpPr>
        <p:spPr>
          <a:xfrm>
            <a:off x="993687" y="4223174"/>
            <a:ext cx="6935113" cy="16147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1" name="TextBox 40">
            <a:extLst>
              <a:ext uri="{FF2B5EF4-FFF2-40B4-BE49-F238E27FC236}">
                <a16:creationId xmlns:a16="http://schemas.microsoft.com/office/drawing/2014/main" id="{6D8219EF-EA48-C170-3743-8840DB24821F}"/>
              </a:ext>
            </a:extLst>
          </p:cNvPr>
          <p:cNvSpPr txBox="1"/>
          <p:nvPr/>
        </p:nvSpPr>
        <p:spPr>
          <a:xfrm>
            <a:off x="1863164" y="4347384"/>
            <a:ext cx="5920724" cy="12628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4" name="TextBox 33">
            <a:extLst>
              <a:ext uri="{FF2B5EF4-FFF2-40B4-BE49-F238E27FC236}">
                <a16:creationId xmlns:a16="http://schemas.microsoft.com/office/drawing/2014/main" id="{34B39C61-6F30-7FFA-FABF-17EAD1741C40}"/>
              </a:ext>
            </a:extLst>
          </p:cNvPr>
          <p:cNvSpPr txBox="1"/>
          <p:nvPr/>
        </p:nvSpPr>
        <p:spPr>
          <a:xfrm>
            <a:off x="1097197" y="4243875"/>
            <a:ext cx="6831604" cy="15112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7" name="TextBox 36">
            <a:extLst>
              <a:ext uri="{FF2B5EF4-FFF2-40B4-BE49-F238E27FC236}">
                <a16:creationId xmlns:a16="http://schemas.microsoft.com/office/drawing/2014/main" id="{D338BB2D-4300-0418-D920-3C9B66788084}"/>
              </a:ext>
            </a:extLst>
          </p:cNvPr>
          <p:cNvSpPr txBox="1"/>
          <p:nvPr/>
        </p:nvSpPr>
        <p:spPr>
          <a:xfrm>
            <a:off x="1407724" y="4264577"/>
            <a:ext cx="654177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Existing solutions focus only on code decomposition, lacking an end-to-end migration workflow.</a:t>
            </a:r>
          </a:p>
        </p:txBody>
      </p:sp>
      <p:sp>
        <p:nvSpPr>
          <p:cNvPr id="38" name="TextBox 37">
            <a:extLst>
              <a:ext uri="{FF2B5EF4-FFF2-40B4-BE49-F238E27FC236}">
                <a16:creationId xmlns:a16="http://schemas.microsoft.com/office/drawing/2014/main" id="{BDAA4776-796E-7B12-DED8-414CEDE811E8}"/>
              </a:ext>
            </a:extLst>
          </p:cNvPr>
          <p:cNvSpPr txBox="1"/>
          <p:nvPr/>
        </p:nvSpPr>
        <p:spPr>
          <a:xfrm>
            <a:off x="9357228" y="4243875"/>
            <a:ext cx="614844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Current methods lack deep business-context understanding of applications.</a:t>
            </a:r>
            <a:endParaRPr lang="en-US" sz="2400">
              <a:ea typeface="Calibri"/>
              <a:cs typeface="Calibri"/>
            </a:endParaRPr>
          </a:p>
        </p:txBody>
      </p:sp>
      <p:sp>
        <p:nvSpPr>
          <p:cNvPr id="39" name="TextBox 38">
            <a:extLst>
              <a:ext uri="{FF2B5EF4-FFF2-40B4-BE49-F238E27FC236}">
                <a16:creationId xmlns:a16="http://schemas.microsoft.com/office/drawing/2014/main" id="{5D40DAFB-B6E8-5055-5C15-1EB94835CFF3}"/>
              </a:ext>
            </a:extLst>
          </p:cNvPr>
          <p:cNvSpPr txBox="1"/>
          <p:nvPr/>
        </p:nvSpPr>
        <p:spPr>
          <a:xfrm>
            <a:off x="2422114" y="7701081"/>
            <a:ext cx="67694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Limited support for migration decisions, risk analysis, and cost-aware planning.</a:t>
            </a:r>
            <a:endParaRPr lang="en-US" sz="2400">
              <a:ea typeface="Calibri"/>
              <a:cs typeface="Calibri"/>
            </a:endParaRPr>
          </a:p>
        </p:txBody>
      </p:sp>
      <p:sp>
        <p:nvSpPr>
          <p:cNvPr id="42" name="TextBox 41">
            <a:extLst>
              <a:ext uri="{FF2B5EF4-FFF2-40B4-BE49-F238E27FC236}">
                <a16:creationId xmlns:a16="http://schemas.microsoft.com/office/drawing/2014/main" id="{4850C0D6-21EC-08ED-17F4-3B8662CEED79}"/>
              </a:ext>
            </a:extLst>
          </p:cNvPr>
          <p:cNvSpPr txBox="1"/>
          <p:nvPr/>
        </p:nvSpPr>
        <p:spPr>
          <a:xfrm>
            <a:off x="10736498" y="8112827"/>
            <a:ext cx="666599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Absence of cloud-native deployment blueprint generation and operational guidance.</a:t>
            </a:r>
            <a:endParaRPr lang="en-US" sz="2400">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a:off x="2309042" y="1793260"/>
            <a:ext cx="12249089" cy="7928501"/>
          </a:xfrm>
          <a:custGeom>
            <a:avLst/>
            <a:gdLst/>
            <a:ahLst/>
            <a:cxnLst/>
            <a:rect l="l" t="t" r="r" b="b"/>
            <a:pathLst>
              <a:path w="12249089" h="7928501">
                <a:moveTo>
                  <a:pt x="0" y="0"/>
                </a:moveTo>
                <a:lnTo>
                  <a:pt x="12249089" y="0"/>
                </a:lnTo>
                <a:lnTo>
                  <a:pt x="12249089" y="7928502"/>
                </a:lnTo>
                <a:lnTo>
                  <a:pt x="0" y="7928502"/>
                </a:lnTo>
                <a:lnTo>
                  <a:pt x="0" y="0"/>
                </a:lnTo>
                <a:close/>
              </a:path>
            </a:pathLst>
          </a:custGeom>
          <a:blipFill>
            <a:blip r:embed="rId2">
              <a:alphaModFix amt="40000"/>
            </a:blip>
            <a:stretch>
              <a:fillRect/>
            </a:stretch>
          </a:blipFill>
        </p:spPr>
      </p:sp>
      <p:grpSp>
        <p:nvGrpSpPr>
          <p:cNvPr id="5" name="Group 5"/>
          <p:cNvGrpSpPr/>
          <p:nvPr/>
        </p:nvGrpSpPr>
        <p:grpSpPr>
          <a:xfrm>
            <a:off x="-666472" y="-537601"/>
            <a:ext cx="18219866" cy="9840635"/>
            <a:chOff x="0" y="-28575"/>
            <a:chExt cx="4789675" cy="1679495"/>
          </a:xfrm>
        </p:grpSpPr>
        <p:sp>
          <p:nvSpPr>
            <p:cNvPr id="6" name="Freeform 6"/>
            <p:cNvSpPr/>
            <p:nvPr/>
          </p:nvSpPr>
          <p:spPr>
            <a:xfrm>
              <a:off x="307301" y="574299"/>
              <a:ext cx="4482374" cy="1076621"/>
            </a:xfrm>
            <a:custGeom>
              <a:avLst/>
              <a:gdLst/>
              <a:ahLst/>
              <a:cxnLst/>
              <a:rect l="l" t="t" r="r" b="b"/>
              <a:pathLst>
                <a:path w="4343024" h="1070967">
                  <a:moveTo>
                    <a:pt x="30987" y="0"/>
                  </a:moveTo>
                  <a:lnTo>
                    <a:pt x="4312038" y="0"/>
                  </a:lnTo>
                  <a:cubicBezTo>
                    <a:pt x="4320256" y="0"/>
                    <a:pt x="4328137" y="3265"/>
                    <a:pt x="4333949" y="9076"/>
                  </a:cubicBezTo>
                  <a:cubicBezTo>
                    <a:pt x="4339760" y="14887"/>
                    <a:pt x="4343024" y="22768"/>
                    <a:pt x="4343024" y="30987"/>
                  </a:cubicBezTo>
                  <a:lnTo>
                    <a:pt x="4343024" y="1039980"/>
                  </a:lnTo>
                  <a:cubicBezTo>
                    <a:pt x="4343024" y="1048199"/>
                    <a:pt x="4339760" y="1056080"/>
                    <a:pt x="4333949" y="1061891"/>
                  </a:cubicBezTo>
                  <a:cubicBezTo>
                    <a:pt x="4328137" y="1067702"/>
                    <a:pt x="4320256" y="1070967"/>
                    <a:pt x="4312038" y="1070967"/>
                  </a:cubicBezTo>
                  <a:lnTo>
                    <a:pt x="30987" y="1070967"/>
                  </a:lnTo>
                  <a:cubicBezTo>
                    <a:pt x="22768" y="1070967"/>
                    <a:pt x="14887" y="1067702"/>
                    <a:pt x="9076" y="1061891"/>
                  </a:cubicBezTo>
                  <a:cubicBezTo>
                    <a:pt x="3265" y="1056080"/>
                    <a:pt x="0" y="1048199"/>
                    <a:pt x="0" y="1039980"/>
                  </a:cubicBezTo>
                  <a:lnTo>
                    <a:pt x="0" y="30987"/>
                  </a:lnTo>
                  <a:cubicBezTo>
                    <a:pt x="0" y="22768"/>
                    <a:pt x="3265" y="14887"/>
                    <a:pt x="9076" y="9076"/>
                  </a:cubicBezTo>
                  <a:cubicBezTo>
                    <a:pt x="14887" y="3265"/>
                    <a:pt x="22768" y="0"/>
                    <a:pt x="30987" y="0"/>
                  </a:cubicBezTo>
                  <a:close/>
                </a:path>
              </a:pathLst>
            </a:custGeom>
            <a:solidFill>
              <a:srgbClr val="D0D7DD"/>
            </a:solidFill>
            <a:ln w="19050" cap="rnd">
              <a:solidFill>
                <a:srgbClr val="424242"/>
              </a:solidFill>
              <a:prstDash val="solid"/>
              <a:round/>
            </a:ln>
          </p:spPr>
        </p:sp>
        <p:sp>
          <p:nvSpPr>
            <p:cNvPr id="7" name="TextBox 7"/>
            <p:cNvSpPr txBox="1"/>
            <p:nvPr/>
          </p:nvSpPr>
          <p:spPr>
            <a:xfrm>
              <a:off x="0" y="-28575"/>
              <a:ext cx="4343024" cy="1099542"/>
            </a:xfrm>
            <a:prstGeom prst="rect">
              <a:avLst/>
            </a:prstGeom>
          </p:spPr>
          <p:txBody>
            <a:bodyPr lIns="50800" tIns="50800" rIns="50800" bIns="50800" rtlCol="0" anchor="ctr"/>
            <a:lstStyle/>
            <a:p>
              <a:pPr algn="ctr">
                <a:lnSpc>
                  <a:spcPts val="2015"/>
                </a:lnSpc>
              </a:pPr>
              <a:endParaRPr/>
            </a:p>
          </p:txBody>
        </p:sp>
      </p:grpSp>
      <p:sp>
        <p:nvSpPr>
          <p:cNvPr id="8" name="TextBox 8"/>
          <p:cNvSpPr txBox="1"/>
          <p:nvPr/>
        </p:nvSpPr>
        <p:spPr>
          <a:xfrm>
            <a:off x="1028700" y="992813"/>
            <a:ext cx="7419057" cy="1179810"/>
          </a:xfrm>
          <a:prstGeom prst="rect">
            <a:avLst/>
          </a:prstGeom>
        </p:spPr>
        <p:txBody>
          <a:bodyPr lIns="0" tIns="0" rIns="0" bIns="0" rtlCol="0" anchor="t">
            <a:spAutoFit/>
          </a:bodyPr>
          <a:lstStyle/>
          <a:p>
            <a:pPr>
              <a:lnSpc>
                <a:spcPts val="9212"/>
              </a:lnSpc>
            </a:pPr>
            <a:r>
              <a:rPr lang="en-US" sz="9800" b="1" spc="-460">
                <a:solidFill>
                  <a:srgbClr val="424242"/>
                </a:solidFill>
                <a:latin typeface="Open Sauce Heavy"/>
                <a:ea typeface="Open Sauce Heavy"/>
                <a:cs typeface="Open Sauce Heavy"/>
              </a:rPr>
              <a:t>Tech Stack</a:t>
            </a:r>
          </a:p>
        </p:txBody>
      </p:sp>
      <p:sp>
        <p:nvSpPr>
          <p:cNvPr id="10" name="AutoShape 10"/>
          <p:cNvSpPr/>
          <p:nvPr/>
        </p:nvSpPr>
        <p:spPr>
          <a:xfrm>
            <a:off x="4157159" y="3709128"/>
            <a:ext cx="0" cy="3293360"/>
          </a:xfrm>
          <a:prstGeom prst="line">
            <a:avLst/>
          </a:prstGeom>
          <a:ln w="19050" cap="flat">
            <a:solidFill>
              <a:srgbClr val="424242"/>
            </a:solidFill>
            <a:prstDash val="solid"/>
            <a:headEnd type="none" w="sm" len="sm"/>
            <a:tailEnd type="none" w="sm" len="sm"/>
          </a:ln>
        </p:spPr>
      </p:sp>
      <p:sp>
        <p:nvSpPr>
          <p:cNvPr id="11" name="TextBox 11"/>
          <p:cNvSpPr txBox="1"/>
          <p:nvPr/>
        </p:nvSpPr>
        <p:spPr>
          <a:xfrm>
            <a:off x="1660826" y="3706633"/>
            <a:ext cx="3640637" cy="452247"/>
          </a:xfrm>
          <a:prstGeom prst="rect">
            <a:avLst/>
          </a:prstGeom>
        </p:spPr>
        <p:txBody>
          <a:bodyPr lIns="0" tIns="0" rIns="0" bIns="0" rtlCol="0" anchor="t">
            <a:spAutoFit/>
          </a:bodyPr>
          <a:lstStyle/>
          <a:p>
            <a:pPr algn="l">
              <a:lnSpc>
                <a:spcPts val="3383"/>
              </a:lnSpc>
            </a:pPr>
            <a:r>
              <a:rPr lang="en-US" sz="3600" b="1" spc="-169">
                <a:solidFill>
                  <a:srgbClr val="424242"/>
                </a:solidFill>
                <a:latin typeface="Open Sauce Heavy"/>
                <a:ea typeface="Open Sauce Heavy"/>
                <a:cs typeface="Open Sauce Heavy"/>
              </a:rPr>
              <a:t>Frontend</a:t>
            </a:r>
          </a:p>
        </p:txBody>
      </p:sp>
      <p:sp>
        <p:nvSpPr>
          <p:cNvPr id="12" name="TextBox 12"/>
          <p:cNvSpPr txBox="1"/>
          <p:nvPr/>
        </p:nvSpPr>
        <p:spPr>
          <a:xfrm>
            <a:off x="4577203" y="3673503"/>
            <a:ext cx="3640637" cy="452247"/>
          </a:xfrm>
          <a:prstGeom prst="rect">
            <a:avLst/>
          </a:prstGeom>
        </p:spPr>
        <p:txBody>
          <a:bodyPr lIns="0" tIns="0" rIns="0" bIns="0" rtlCol="0" anchor="t">
            <a:spAutoFit/>
          </a:bodyPr>
          <a:lstStyle/>
          <a:p>
            <a:pPr>
              <a:lnSpc>
                <a:spcPts val="3383"/>
              </a:lnSpc>
            </a:pPr>
            <a:r>
              <a:rPr lang="en-US" sz="3600" b="1" spc="-169">
                <a:solidFill>
                  <a:srgbClr val="424242"/>
                </a:solidFill>
                <a:latin typeface="Open Sauce Heavy"/>
                <a:sym typeface="Open Sauce Heavy"/>
              </a:rPr>
              <a:t>Api Gateway</a:t>
            </a:r>
            <a:endParaRPr lang="en-US"/>
          </a:p>
        </p:txBody>
      </p:sp>
      <p:sp>
        <p:nvSpPr>
          <p:cNvPr id="15" name="TextBox 15"/>
          <p:cNvSpPr txBox="1"/>
          <p:nvPr/>
        </p:nvSpPr>
        <p:spPr>
          <a:xfrm>
            <a:off x="8446610" y="3690068"/>
            <a:ext cx="3640637" cy="452247"/>
          </a:xfrm>
          <a:prstGeom prst="rect">
            <a:avLst/>
          </a:prstGeom>
        </p:spPr>
        <p:txBody>
          <a:bodyPr wrap="square" lIns="0" tIns="0" rIns="0" bIns="0" rtlCol="0" anchor="t">
            <a:spAutoFit/>
          </a:bodyPr>
          <a:lstStyle/>
          <a:p>
            <a:pPr>
              <a:lnSpc>
                <a:spcPts val="3383"/>
              </a:lnSpc>
            </a:pPr>
            <a:r>
              <a:rPr lang="en-US" sz="3600" b="1" spc="-169">
                <a:solidFill>
                  <a:srgbClr val="424242"/>
                </a:solidFill>
                <a:latin typeface="Open Sauce Heavy"/>
                <a:ea typeface="Open Sauce Heavy"/>
                <a:cs typeface="Open Sauce Heavy"/>
              </a:rPr>
              <a:t>AI Services</a:t>
            </a:r>
          </a:p>
        </p:txBody>
      </p:sp>
      <p:sp>
        <p:nvSpPr>
          <p:cNvPr id="21" name="AutoShape 10">
            <a:extLst>
              <a:ext uri="{FF2B5EF4-FFF2-40B4-BE49-F238E27FC236}">
                <a16:creationId xmlns:a16="http://schemas.microsoft.com/office/drawing/2014/main" id="{E3924E50-C376-151D-0B2A-B5E1686C3DD2}"/>
              </a:ext>
            </a:extLst>
          </p:cNvPr>
          <p:cNvSpPr/>
          <p:nvPr/>
        </p:nvSpPr>
        <p:spPr>
          <a:xfrm>
            <a:off x="7934027" y="3709127"/>
            <a:ext cx="0" cy="3293360"/>
          </a:xfrm>
          <a:prstGeom prst="line">
            <a:avLst/>
          </a:prstGeom>
          <a:ln w="19050" cap="flat">
            <a:solidFill>
              <a:srgbClr val="424242"/>
            </a:solidFill>
            <a:prstDash val="solid"/>
            <a:headEnd type="none" w="sm" len="sm"/>
            <a:tailEnd type="none" w="sm" len="sm"/>
          </a:ln>
        </p:spPr>
      </p:sp>
      <p:sp>
        <p:nvSpPr>
          <p:cNvPr id="22" name="TextBox 21">
            <a:extLst>
              <a:ext uri="{FF2B5EF4-FFF2-40B4-BE49-F238E27FC236}">
                <a16:creationId xmlns:a16="http://schemas.microsoft.com/office/drawing/2014/main" id="{658ED82F-EC74-743C-074B-DD4591BDBB31}"/>
              </a:ext>
            </a:extLst>
          </p:cNvPr>
          <p:cNvSpPr txBox="1"/>
          <p:nvPr/>
        </p:nvSpPr>
        <p:spPr>
          <a:xfrm>
            <a:off x="12009784" y="3420719"/>
            <a:ext cx="347869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424242"/>
                </a:solidFill>
                <a:latin typeface="Open Sauce Heavy"/>
              </a:rPr>
              <a:t>AI Sync Worker</a:t>
            </a:r>
            <a:endParaRPr lang="en-US" sz="3600">
              <a:latin typeface="Open Sauce Heavy"/>
              <a:ea typeface="Calibri"/>
              <a:cs typeface="Calibri"/>
            </a:endParaRPr>
          </a:p>
          <a:p>
            <a:pPr algn="ctr"/>
            <a:endParaRPr lang="en-US"/>
          </a:p>
        </p:txBody>
      </p:sp>
      <p:sp>
        <p:nvSpPr>
          <p:cNvPr id="23" name="TextBox 22">
            <a:extLst>
              <a:ext uri="{FF2B5EF4-FFF2-40B4-BE49-F238E27FC236}">
                <a16:creationId xmlns:a16="http://schemas.microsoft.com/office/drawing/2014/main" id="{1160B335-5B8F-8467-DE3A-5615788A101B}"/>
              </a:ext>
            </a:extLst>
          </p:cNvPr>
          <p:cNvSpPr txBox="1"/>
          <p:nvPr/>
        </p:nvSpPr>
        <p:spPr>
          <a:xfrm>
            <a:off x="14560826" y="3685761"/>
            <a:ext cx="9144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424242"/>
                </a:solidFill>
                <a:latin typeface="Open Sauce Heavy"/>
              </a:rPr>
              <a:t>Database</a:t>
            </a:r>
          </a:p>
          <a:p>
            <a:pPr algn="ctr"/>
            <a:endParaRPr lang="en-US"/>
          </a:p>
        </p:txBody>
      </p:sp>
      <p:sp>
        <p:nvSpPr>
          <p:cNvPr id="24" name="AutoShape 10">
            <a:extLst>
              <a:ext uri="{FF2B5EF4-FFF2-40B4-BE49-F238E27FC236}">
                <a16:creationId xmlns:a16="http://schemas.microsoft.com/office/drawing/2014/main" id="{7A2C3ED1-D50B-4733-6361-527C88D0B208}"/>
              </a:ext>
            </a:extLst>
          </p:cNvPr>
          <p:cNvSpPr/>
          <p:nvPr/>
        </p:nvSpPr>
        <p:spPr>
          <a:xfrm>
            <a:off x="11412722" y="3675996"/>
            <a:ext cx="0" cy="3293360"/>
          </a:xfrm>
          <a:prstGeom prst="line">
            <a:avLst/>
          </a:prstGeom>
          <a:ln w="19050" cap="flat">
            <a:solidFill>
              <a:srgbClr val="424242"/>
            </a:solidFill>
            <a:prstDash val="solid"/>
            <a:headEnd type="none" w="sm" len="sm"/>
            <a:tailEnd type="none" w="sm" len="sm"/>
          </a:ln>
        </p:spPr>
      </p:sp>
      <p:sp>
        <p:nvSpPr>
          <p:cNvPr id="25" name="AutoShape 10">
            <a:extLst>
              <a:ext uri="{FF2B5EF4-FFF2-40B4-BE49-F238E27FC236}">
                <a16:creationId xmlns:a16="http://schemas.microsoft.com/office/drawing/2014/main" id="{ECAD1288-AD21-479C-F5B4-79FC63C236BE}"/>
              </a:ext>
            </a:extLst>
          </p:cNvPr>
          <p:cNvSpPr/>
          <p:nvPr/>
        </p:nvSpPr>
        <p:spPr>
          <a:xfrm>
            <a:off x="14295069" y="3675996"/>
            <a:ext cx="0" cy="3293360"/>
          </a:xfrm>
          <a:prstGeom prst="line">
            <a:avLst/>
          </a:prstGeom>
          <a:ln w="19050" cap="flat">
            <a:solidFill>
              <a:srgbClr val="424242"/>
            </a:solidFill>
            <a:prstDash val="solid"/>
            <a:headEnd type="none" w="sm" len="sm"/>
            <a:tailEnd type="none" w="sm" len="sm"/>
          </a:ln>
        </p:spPr>
      </p:sp>
      <p:pic>
        <p:nvPicPr>
          <p:cNvPr id="28" name="Picture 27">
            <a:extLst>
              <a:ext uri="{FF2B5EF4-FFF2-40B4-BE49-F238E27FC236}">
                <a16:creationId xmlns:a16="http://schemas.microsoft.com/office/drawing/2014/main" id="{E2C5343D-F48D-C85D-C5B6-2A5AB064E953}"/>
              </a:ext>
            </a:extLst>
          </p:cNvPr>
          <p:cNvPicPr>
            <a:picLocks noChangeAspect="1"/>
          </p:cNvPicPr>
          <p:nvPr/>
        </p:nvPicPr>
        <p:blipFill>
          <a:blip r:embed="rId3"/>
          <a:stretch>
            <a:fillRect/>
          </a:stretch>
        </p:blipFill>
        <p:spPr>
          <a:xfrm>
            <a:off x="1034705" y="5459481"/>
            <a:ext cx="2552286" cy="610428"/>
          </a:xfrm>
          <a:prstGeom prst="rect">
            <a:avLst/>
          </a:prstGeom>
        </p:spPr>
      </p:pic>
      <p:pic>
        <p:nvPicPr>
          <p:cNvPr id="29" name="Picture 28">
            <a:extLst>
              <a:ext uri="{FF2B5EF4-FFF2-40B4-BE49-F238E27FC236}">
                <a16:creationId xmlns:a16="http://schemas.microsoft.com/office/drawing/2014/main" id="{B41DFE06-0AF5-F878-0832-306D35FE6075}"/>
              </a:ext>
            </a:extLst>
          </p:cNvPr>
          <p:cNvPicPr>
            <a:picLocks noChangeAspect="1"/>
          </p:cNvPicPr>
          <p:nvPr/>
        </p:nvPicPr>
        <p:blipFill>
          <a:blip r:embed="rId4"/>
          <a:stretch>
            <a:fillRect/>
          </a:stretch>
        </p:blipFill>
        <p:spPr>
          <a:xfrm>
            <a:off x="796580" y="6493980"/>
            <a:ext cx="3028536" cy="512694"/>
          </a:xfrm>
          <a:prstGeom prst="rect">
            <a:avLst/>
          </a:prstGeom>
        </p:spPr>
      </p:pic>
      <p:pic>
        <p:nvPicPr>
          <p:cNvPr id="30" name="Picture 29">
            <a:extLst>
              <a:ext uri="{FF2B5EF4-FFF2-40B4-BE49-F238E27FC236}">
                <a16:creationId xmlns:a16="http://schemas.microsoft.com/office/drawing/2014/main" id="{9C2312DC-74F0-B89A-7806-C8A679FF38AD}"/>
              </a:ext>
            </a:extLst>
          </p:cNvPr>
          <p:cNvPicPr>
            <a:picLocks noChangeAspect="1"/>
          </p:cNvPicPr>
          <p:nvPr/>
        </p:nvPicPr>
        <p:blipFill>
          <a:blip r:embed="rId5"/>
          <a:stretch>
            <a:fillRect/>
          </a:stretch>
        </p:blipFill>
        <p:spPr>
          <a:xfrm>
            <a:off x="1294157" y="4397237"/>
            <a:ext cx="2033382" cy="730527"/>
          </a:xfrm>
          <a:prstGeom prst="rect">
            <a:avLst/>
          </a:prstGeom>
        </p:spPr>
      </p:pic>
      <p:pic>
        <p:nvPicPr>
          <p:cNvPr id="31" name="Picture 30">
            <a:extLst>
              <a:ext uri="{FF2B5EF4-FFF2-40B4-BE49-F238E27FC236}">
                <a16:creationId xmlns:a16="http://schemas.microsoft.com/office/drawing/2014/main" id="{0FFCBB56-07C4-9F4C-164F-A13FB7E0113A}"/>
              </a:ext>
            </a:extLst>
          </p:cNvPr>
          <p:cNvPicPr>
            <a:picLocks noChangeAspect="1"/>
          </p:cNvPicPr>
          <p:nvPr/>
        </p:nvPicPr>
        <p:blipFill>
          <a:blip r:embed="rId6"/>
          <a:stretch>
            <a:fillRect/>
          </a:stretch>
        </p:blipFill>
        <p:spPr>
          <a:xfrm>
            <a:off x="4567445" y="4401793"/>
            <a:ext cx="2543590" cy="754546"/>
          </a:xfrm>
          <a:prstGeom prst="rect">
            <a:avLst/>
          </a:prstGeom>
        </p:spPr>
      </p:pic>
      <p:pic>
        <p:nvPicPr>
          <p:cNvPr id="32" name="Picture 31">
            <a:extLst>
              <a:ext uri="{FF2B5EF4-FFF2-40B4-BE49-F238E27FC236}">
                <a16:creationId xmlns:a16="http://schemas.microsoft.com/office/drawing/2014/main" id="{9DB2FF71-BA03-6D07-D91A-F2BDB7907224}"/>
              </a:ext>
            </a:extLst>
          </p:cNvPr>
          <p:cNvPicPr>
            <a:picLocks noChangeAspect="1"/>
          </p:cNvPicPr>
          <p:nvPr/>
        </p:nvPicPr>
        <p:blipFill>
          <a:blip r:embed="rId7"/>
          <a:stretch>
            <a:fillRect/>
          </a:stretch>
        </p:blipFill>
        <p:spPr>
          <a:xfrm>
            <a:off x="4560405" y="5457411"/>
            <a:ext cx="2872409" cy="813353"/>
          </a:xfrm>
          <a:prstGeom prst="rect">
            <a:avLst/>
          </a:prstGeom>
        </p:spPr>
      </p:pic>
      <p:pic>
        <p:nvPicPr>
          <p:cNvPr id="33" name="Picture 32">
            <a:extLst>
              <a:ext uri="{FF2B5EF4-FFF2-40B4-BE49-F238E27FC236}">
                <a16:creationId xmlns:a16="http://schemas.microsoft.com/office/drawing/2014/main" id="{16335A9F-0027-9472-D736-22C3AA6745E5}"/>
              </a:ext>
            </a:extLst>
          </p:cNvPr>
          <p:cNvPicPr>
            <a:picLocks noChangeAspect="1"/>
          </p:cNvPicPr>
          <p:nvPr/>
        </p:nvPicPr>
        <p:blipFill>
          <a:blip r:embed="rId8"/>
          <a:stretch>
            <a:fillRect/>
          </a:stretch>
        </p:blipFill>
        <p:spPr>
          <a:xfrm>
            <a:off x="8443499" y="4389782"/>
            <a:ext cx="2378353" cy="745435"/>
          </a:xfrm>
          <a:prstGeom prst="rect">
            <a:avLst/>
          </a:prstGeom>
        </p:spPr>
      </p:pic>
      <p:pic>
        <p:nvPicPr>
          <p:cNvPr id="34" name="Picture 33">
            <a:extLst>
              <a:ext uri="{FF2B5EF4-FFF2-40B4-BE49-F238E27FC236}">
                <a16:creationId xmlns:a16="http://schemas.microsoft.com/office/drawing/2014/main" id="{035CBE23-FD4D-C22B-D01F-4ED12D50B0C2}"/>
              </a:ext>
            </a:extLst>
          </p:cNvPr>
          <p:cNvPicPr>
            <a:picLocks noChangeAspect="1"/>
          </p:cNvPicPr>
          <p:nvPr/>
        </p:nvPicPr>
        <p:blipFill>
          <a:blip r:embed="rId9"/>
          <a:stretch>
            <a:fillRect/>
          </a:stretch>
        </p:blipFill>
        <p:spPr>
          <a:xfrm>
            <a:off x="8305800" y="5331929"/>
            <a:ext cx="2620618" cy="733010"/>
          </a:xfrm>
          <a:prstGeom prst="rect">
            <a:avLst/>
          </a:prstGeom>
        </p:spPr>
      </p:pic>
      <p:pic>
        <p:nvPicPr>
          <p:cNvPr id="35" name="Picture 34">
            <a:extLst>
              <a:ext uri="{FF2B5EF4-FFF2-40B4-BE49-F238E27FC236}">
                <a16:creationId xmlns:a16="http://schemas.microsoft.com/office/drawing/2014/main" id="{3A0FE0D6-EEDC-AA65-5AAB-CE617A8A77D5}"/>
              </a:ext>
            </a:extLst>
          </p:cNvPr>
          <p:cNvPicPr>
            <a:picLocks noChangeAspect="1"/>
          </p:cNvPicPr>
          <p:nvPr/>
        </p:nvPicPr>
        <p:blipFill>
          <a:blip r:embed="rId10"/>
          <a:stretch>
            <a:fillRect/>
          </a:stretch>
        </p:blipFill>
        <p:spPr>
          <a:xfrm>
            <a:off x="8307664" y="6285879"/>
            <a:ext cx="2749413" cy="763242"/>
          </a:xfrm>
          <a:prstGeom prst="rect">
            <a:avLst/>
          </a:prstGeom>
        </p:spPr>
      </p:pic>
      <p:pic>
        <p:nvPicPr>
          <p:cNvPr id="3" name="Picture 2">
            <a:extLst>
              <a:ext uri="{FF2B5EF4-FFF2-40B4-BE49-F238E27FC236}">
                <a16:creationId xmlns:a16="http://schemas.microsoft.com/office/drawing/2014/main" id="{024B871F-999E-1C1A-1C9B-63331C567481}"/>
              </a:ext>
            </a:extLst>
          </p:cNvPr>
          <p:cNvPicPr>
            <a:picLocks noChangeAspect="1"/>
          </p:cNvPicPr>
          <p:nvPr/>
        </p:nvPicPr>
        <p:blipFill>
          <a:blip r:embed="rId11"/>
          <a:stretch>
            <a:fillRect/>
          </a:stretch>
        </p:blipFill>
        <p:spPr>
          <a:xfrm>
            <a:off x="11846140" y="4749241"/>
            <a:ext cx="2009776" cy="603168"/>
          </a:xfrm>
          <a:prstGeom prst="rect">
            <a:avLst/>
          </a:prstGeom>
        </p:spPr>
      </p:pic>
      <p:pic>
        <p:nvPicPr>
          <p:cNvPr id="9" name="Picture 8">
            <a:extLst>
              <a:ext uri="{FF2B5EF4-FFF2-40B4-BE49-F238E27FC236}">
                <a16:creationId xmlns:a16="http://schemas.microsoft.com/office/drawing/2014/main" id="{DB429CC6-0729-B3DC-36D5-3E614C70DE2A}"/>
              </a:ext>
            </a:extLst>
          </p:cNvPr>
          <p:cNvPicPr>
            <a:picLocks noChangeAspect="1"/>
          </p:cNvPicPr>
          <p:nvPr/>
        </p:nvPicPr>
        <p:blipFill>
          <a:blip r:embed="rId12"/>
          <a:stretch>
            <a:fillRect/>
          </a:stretch>
        </p:blipFill>
        <p:spPr>
          <a:xfrm>
            <a:off x="14553814" y="4373646"/>
            <a:ext cx="2803698" cy="674732"/>
          </a:xfrm>
          <a:prstGeom prst="rect">
            <a:avLst/>
          </a:prstGeom>
        </p:spPr>
      </p:pic>
      <p:pic>
        <p:nvPicPr>
          <p:cNvPr id="13" name="Picture 12">
            <a:extLst>
              <a:ext uri="{FF2B5EF4-FFF2-40B4-BE49-F238E27FC236}">
                <a16:creationId xmlns:a16="http://schemas.microsoft.com/office/drawing/2014/main" id="{B4614789-225A-2FE2-5599-71C3F1BCF8BD}"/>
              </a:ext>
            </a:extLst>
          </p:cNvPr>
          <p:cNvPicPr>
            <a:picLocks noChangeAspect="1"/>
          </p:cNvPicPr>
          <p:nvPr/>
        </p:nvPicPr>
        <p:blipFill>
          <a:blip r:embed="rId13"/>
          <a:stretch>
            <a:fillRect/>
          </a:stretch>
        </p:blipFill>
        <p:spPr>
          <a:xfrm>
            <a:off x="14546606" y="5170918"/>
            <a:ext cx="2709992" cy="918260"/>
          </a:xfrm>
          <a:prstGeom prst="rect">
            <a:avLst/>
          </a:prstGeom>
        </p:spPr>
      </p:pic>
      <p:pic>
        <p:nvPicPr>
          <p:cNvPr id="14" name="Picture 13">
            <a:extLst>
              <a:ext uri="{FF2B5EF4-FFF2-40B4-BE49-F238E27FC236}">
                <a16:creationId xmlns:a16="http://schemas.microsoft.com/office/drawing/2014/main" id="{B8DA4EDB-4F57-F9FE-9322-A3599FF577DA}"/>
              </a:ext>
            </a:extLst>
          </p:cNvPr>
          <p:cNvPicPr>
            <a:picLocks noChangeAspect="1"/>
          </p:cNvPicPr>
          <p:nvPr/>
        </p:nvPicPr>
        <p:blipFill>
          <a:blip r:embed="rId14"/>
          <a:stretch>
            <a:fillRect/>
          </a:stretch>
        </p:blipFill>
        <p:spPr>
          <a:xfrm>
            <a:off x="8449446" y="7264486"/>
            <a:ext cx="2485769" cy="8706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3" name="TextBox 3"/>
          <p:cNvSpPr txBox="1"/>
          <p:nvPr/>
        </p:nvSpPr>
        <p:spPr>
          <a:xfrm>
            <a:off x="-2110740" y="275330"/>
            <a:ext cx="11789784" cy="1402372"/>
          </a:xfrm>
          <a:prstGeom prst="rect">
            <a:avLst/>
          </a:prstGeom>
        </p:spPr>
        <p:txBody>
          <a:bodyPr wrap="square" lIns="0" tIns="0" rIns="0" bIns="0" rtlCol="0" anchor="t">
            <a:spAutoFit/>
          </a:bodyPr>
          <a:lstStyle/>
          <a:p>
            <a:pPr algn="ctr">
              <a:lnSpc>
                <a:spcPts val="11468"/>
              </a:lnSpc>
            </a:pPr>
            <a:r>
              <a:rPr lang="en-US" sz="9000" b="1" spc="-573">
                <a:solidFill>
                  <a:srgbClr val="424242"/>
                </a:solidFill>
                <a:latin typeface="Open Sauce Heavy"/>
                <a:sym typeface="Open Sauce Heavy"/>
              </a:rPr>
              <a:t>Architecture</a:t>
            </a:r>
            <a:endParaRPr lang="en-US" sz="9000">
              <a:ea typeface="Calibri"/>
              <a:cs typeface="Calibri"/>
            </a:endParaRPr>
          </a:p>
        </p:txBody>
      </p:sp>
      <p:pic>
        <p:nvPicPr>
          <p:cNvPr id="21" name="Picture 20">
            <a:extLst>
              <a:ext uri="{FF2B5EF4-FFF2-40B4-BE49-F238E27FC236}">
                <a16:creationId xmlns:a16="http://schemas.microsoft.com/office/drawing/2014/main" id="{5FD535DC-1AB2-001F-9DD3-BD3125E11D3E}"/>
              </a:ext>
            </a:extLst>
          </p:cNvPr>
          <p:cNvPicPr>
            <a:picLocks noChangeAspect="1"/>
          </p:cNvPicPr>
          <p:nvPr/>
        </p:nvPicPr>
        <p:blipFill>
          <a:blip r:embed="rId2"/>
          <a:stretch>
            <a:fillRect/>
          </a:stretch>
        </p:blipFill>
        <p:spPr>
          <a:xfrm>
            <a:off x="7492365" y="717233"/>
            <a:ext cx="10161270" cy="9096375"/>
          </a:xfrm>
          <a:prstGeom prst="rect">
            <a:avLst/>
          </a:prstGeom>
        </p:spPr>
      </p:pic>
      <p:sp>
        <p:nvSpPr>
          <p:cNvPr id="22" name="TextBox 21">
            <a:extLst>
              <a:ext uri="{FF2B5EF4-FFF2-40B4-BE49-F238E27FC236}">
                <a16:creationId xmlns:a16="http://schemas.microsoft.com/office/drawing/2014/main" id="{65AC9708-4048-58AB-1A38-E49EE819FA60}"/>
              </a:ext>
            </a:extLst>
          </p:cNvPr>
          <p:cNvSpPr txBox="1"/>
          <p:nvPr/>
        </p:nvSpPr>
        <p:spPr>
          <a:xfrm>
            <a:off x="718038" y="2578490"/>
            <a:ext cx="5732584" cy="54784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
            </a:pPr>
            <a:r>
              <a:rPr lang="en-US" sz="2500">
                <a:ea typeface="+mn-lt"/>
                <a:cs typeface="+mn-lt"/>
              </a:rPr>
              <a:t>A React SPA frontend authenticates via </a:t>
            </a:r>
            <a:r>
              <a:rPr lang="en-US" sz="2500" err="1">
                <a:ea typeface="+mn-lt"/>
                <a:cs typeface="+mn-lt"/>
              </a:rPr>
              <a:t>Supabase</a:t>
            </a:r>
            <a:r>
              <a:rPr lang="en-US" sz="2500">
                <a:ea typeface="+mn-lt"/>
                <a:cs typeface="+mn-lt"/>
              </a:rPr>
              <a:t> and routes requests through a central Node/Express API Gateway. </a:t>
            </a:r>
            <a:endParaRPr lang="en-US"/>
          </a:p>
          <a:p>
            <a:pPr marL="342900" indent="-342900">
              <a:buFont typeface="Wingdings"/>
              <a:buChar char="§"/>
            </a:pPr>
            <a:r>
              <a:rPr lang="en-US" sz="2500">
                <a:ea typeface="+mn-lt"/>
                <a:cs typeface="+mn-lt"/>
              </a:rPr>
              <a:t>For heavy operations like analyzing uploaded codebases, the Gateway offloads tasks via Redis to a </a:t>
            </a:r>
            <a:r>
              <a:rPr lang="en-US" sz="2500" err="1">
                <a:ea typeface="+mn-lt"/>
                <a:cs typeface="+mn-lt"/>
              </a:rPr>
              <a:t>BullMQ</a:t>
            </a:r>
            <a:r>
              <a:rPr lang="en-US" sz="2500">
                <a:ea typeface="+mn-lt"/>
                <a:cs typeface="+mn-lt"/>
              </a:rPr>
              <a:t> Background Worker, which parses code structures and stores the dependency graph in Neo4j. </a:t>
            </a:r>
          </a:p>
          <a:p>
            <a:pPr marL="342900" indent="-342900">
              <a:buFont typeface="Wingdings"/>
              <a:buChar char="§"/>
            </a:pPr>
            <a:r>
              <a:rPr lang="en-US" sz="2500">
                <a:ea typeface="+mn-lt"/>
                <a:cs typeface="+mn-lt"/>
              </a:rPr>
              <a:t>Finally, a specialized Python/</a:t>
            </a:r>
            <a:r>
              <a:rPr lang="en-US" sz="2500" err="1">
                <a:ea typeface="+mn-lt"/>
                <a:cs typeface="+mn-lt"/>
              </a:rPr>
              <a:t>FastAPI</a:t>
            </a:r>
            <a:r>
              <a:rPr lang="en-US" sz="2500">
                <a:ea typeface="+mn-lt"/>
                <a:cs typeface="+mn-lt"/>
              </a:rPr>
              <a:t> AI Service queries this Neo4j graph and interfaces with external LLMs via </a:t>
            </a:r>
            <a:r>
              <a:rPr lang="en-US" sz="2500" err="1">
                <a:ea typeface="+mn-lt"/>
                <a:cs typeface="+mn-lt"/>
              </a:rPr>
              <a:t>OpenRouter</a:t>
            </a:r>
            <a:r>
              <a:rPr lang="en-US" sz="2500">
                <a:ea typeface="+mn-lt"/>
                <a:cs typeface="+mn-lt"/>
              </a:rPr>
              <a:t> to generate the intelligent microservice decomposition strategies.</a:t>
            </a:r>
            <a:endParaRPr lang="en-US" sz="2500">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sp>
        <p:nvSpPr>
          <p:cNvPr id="2" name="Freeform 2"/>
          <p:cNvSpPr/>
          <p:nvPr/>
        </p:nvSpPr>
        <p:spPr>
          <a:xfrm rot="20886377">
            <a:off x="5951188" y="-102341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2">
              <a:alphaModFix amt="20999"/>
            </a:blip>
            <a:stretch>
              <a:fillRect/>
            </a:stretch>
          </a:blipFill>
        </p:spPr>
      </p:sp>
      <p:grpSp>
        <p:nvGrpSpPr>
          <p:cNvPr id="16" name="Group 16"/>
          <p:cNvGrpSpPr/>
          <p:nvPr/>
        </p:nvGrpSpPr>
        <p:grpSpPr>
          <a:xfrm>
            <a:off x="542346" y="1106807"/>
            <a:ext cx="17330819" cy="8797140"/>
            <a:chOff x="-33315" y="-28575"/>
            <a:chExt cx="4377822" cy="1226142"/>
          </a:xfrm>
        </p:grpSpPr>
        <p:sp>
          <p:nvSpPr>
            <p:cNvPr id="17" name="Freeform 17"/>
            <p:cNvSpPr/>
            <p:nvPr/>
          </p:nvSpPr>
          <p:spPr>
            <a:xfrm>
              <a:off x="-33315" y="0"/>
              <a:ext cx="4344507" cy="1197567"/>
            </a:xfrm>
            <a:custGeom>
              <a:avLst/>
              <a:gdLst/>
              <a:ahLst/>
              <a:cxnLst/>
              <a:rect l="l" t="t" r="r" b="b"/>
              <a:pathLst>
                <a:path w="4344507" h="1197567">
                  <a:moveTo>
                    <a:pt x="37547" y="0"/>
                  </a:moveTo>
                  <a:lnTo>
                    <a:pt x="4306960" y="0"/>
                  </a:lnTo>
                  <a:cubicBezTo>
                    <a:pt x="4316918" y="0"/>
                    <a:pt x="4326468" y="3956"/>
                    <a:pt x="4333510" y="10997"/>
                  </a:cubicBezTo>
                  <a:cubicBezTo>
                    <a:pt x="4340551" y="18039"/>
                    <a:pt x="4344507" y="27589"/>
                    <a:pt x="4344507" y="37547"/>
                  </a:cubicBezTo>
                  <a:lnTo>
                    <a:pt x="4344507" y="1160021"/>
                  </a:lnTo>
                  <a:cubicBezTo>
                    <a:pt x="4344507" y="1169979"/>
                    <a:pt x="4340551" y="1179529"/>
                    <a:pt x="4333510" y="1186570"/>
                  </a:cubicBezTo>
                  <a:cubicBezTo>
                    <a:pt x="4326468" y="1193612"/>
                    <a:pt x="4316918" y="1197567"/>
                    <a:pt x="4306960" y="1197567"/>
                  </a:cubicBezTo>
                  <a:lnTo>
                    <a:pt x="37547" y="1197567"/>
                  </a:lnTo>
                  <a:cubicBezTo>
                    <a:pt x="27589" y="1197567"/>
                    <a:pt x="18039" y="1193612"/>
                    <a:pt x="10997" y="1186570"/>
                  </a:cubicBezTo>
                  <a:cubicBezTo>
                    <a:pt x="3956" y="1179529"/>
                    <a:pt x="0" y="1169979"/>
                    <a:pt x="0" y="1160021"/>
                  </a:cubicBezTo>
                  <a:lnTo>
                    <a:pt x="0" y="37547"/>
                  </a:lnTo>
                  <a:cubicBezTo>
                    <a:pt x="0" y="27589"/>
                    <a:pt x="3956" y="18039"/>
                    <a:pt x="10997" y="10997"/>
                  </a:cubicBezTo>
                  <a:cubicBezTo>
                    <a:pt x="18039" y="3956"/>
                    <a:pt x="27589" y="0"/>
                    <a:pt x="37547" y="0"/>
                  </a:cubicBezTo>
                  <a:close/>
                </a:path>
              </a:pathLst>
            </a:custGeom>
            <a:solidFill>
              <a:srgbClr val="424242"/>
            </a:solidFill>
            <a:ln w="19050" cap="rnd">
              <a:solidFill>
                <a:srgbClr val="D0D7DD"/>
              </a:solidFill>
              <a:prstDash val="solid"/>
              <a:round/>
            </a:ln>
          </p:spPr>
        </p:sp>
        <p:sp>
          <p:nvSpPr>
            <p:cNvPr id="18" name="TextBox 18"/>
            <p:cNvSpPr txBox="1"/>
            <p:nvPr/>
          </p:nvSpPr>
          <p:spPr>
            <a:xfrm>
              <a:off x="0" y="-28575"/>
              <a:ext cx="4344507" cy="1226142"/>
            </a:xfrm>
            <a:prstGeom prst="rect">
              <a:avLst/>
            </a:prstGeom>
          </p:spPr>
          <p:txBody>
            <a:bodyPr lIns="50800" tIns="50800" rIns="50800" bIns="50800" rtlCol="0" anchor="ctr"/>
            <a:lstStyle/>
            <a:p>
              <a:pPr algn="ctr">
                <a:lnSpc>
                  <a:spcPts val="2015"/>
                </a:lnSpc>
              </a:pPr>
              <a:endParaRPr/>
            </a:p>
          </p:txBody>
        </p:sp>
      </p:grpSp>
      <p:sp>
        <p:nvSpPr>
          <p:cNvPr id="23" name="TextBox 23"/>
          <p:cNvSpPr txBox="1"/>
          <p:nvPr/>
        </p:nvSpPr>
        <p:spPr>
          <a:xfrm>
            <a:off x="1087315" y="6095"/>
            <a:ext cx="16230600" cy="1196097"/>
          </a:xfrm>
          <a:prstGeom prst="rect">
            <a:avLst/>
          </a:prstGeom>
        </p:spPr>
        <p:txBody>
          <a:bodyPr lIns="0" tIns="0" rIns="0" bIns="0" rtlCol="0" anchor="t">
            <a:spAutoFit/>
          </a:bodyPr>
          <a:lstStyle/>
          <a:p>
            <a:pPr algn="ctr">
              <a:lnSpc>
                <a:spcPts val="10527"/>
              </a:lnSpc>
            </a:pPr>
            <a:r>
              <a:rPr lang="en-US" sz="5500" b="1" spc="-526">
                <a:solidFill>
                  <a:srgbClr val="FFFFFF"/>
                </a:solidFill>
                <a:latin typeface="Calibri"/>
                <a:ea typeface="Calibri"/>
                <a:cs typeface="Calibri"/>
                <a:sym typeface="Open Sauce Heavy"/>
              </a:rPr>
              <a:t>Data</a:t>
            </a:r>
            <a:r>
              <a:rPr lang="en-US" sz="5500" b="1" spc="-526">
                <a:solidFill>
                  <a:srgbClr val="FFFFFF"/>
                </a:solidFill>
                <a:ea typeface="+mn-lt"/>
                <a:cs typeface="+mn-lt"/>
                <a:sym typeface="Open Sauce Heavy"/>
              </a:rPr>
              <a:t> Ingestion &amp; Pre-Processing Pipeline</a:t>
            </a:r>
            <a:endParaRPr lang="en-US" sz="5500" b="1">
              <a:ea typeface="Calibri"/>
              <a:cs typeface="Calibri"/>
            </a:endParaRPr>
          </a:p>
        </p:txBody>
      </p:sp>
      <p:sp>
        <p:nvSpPr>
          <p:cNvPr id="31" name="TextBox 30">
            <a:extLst>
              <a:ext uri="{FF2B5EF4-FFF2-40B4-BE49-F238E27FC236}">
                <a16:creationId xmlns:a16="http://schemas.microsoft.com/office/drawing/2014/main" id="{A3A4073F-DF60-9AD2-5AE3-9F04923DDE8A}"/>
              </a:ext>
            </a:extLst>
          </p:cNvPr>
          <p:cNvSpPr txBox="1"/>
          <p:nvPr/>
        </p:nvSpPr>
        <p:spPr>
          <a:xfrm>
            <a:off x="879230" y="1553307"/>
            <a:ext cx="16544192" cy="82330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b="1">
                <a:solidFill>
                  <a:schemeClr val="bg1"/>
                </a:solidFill>
                <a:ea typeface="+mn-lt"/>
                <a:cs typeface="+mn-lt"/>
              </a:rPr>
              <a:t>1. Client Upload (React Frontend) :</a:t>
            </a:r>
            <a:endParaRPr lang="en-US" sz="2300" b="1">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The user uploads the legacy monolithic codebase as a .zip archive via the interactive web dashboard.</a:t>
            </a:r>
            <a:endParaRPr lang="en-US" sz="2300">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The frontend securely transmits the payload with JWT authentication.</a:t>
            </a:r>
            <a:endParaRPr lang="en-US" sz="2300">
              <a:solidFill>
                <a:schemeClr val="bg1"/>
              </a:solidFill>
              <a:ea typeface="Calibri"/>
              <a:cs typeface="Calibri"/>
            </a:endParaRPr>
          </a:p>
          <a:p>
            <a:endParaRPr lang="en-US" sz="2300">
              <a:ea typeface="Calibri"/>
              <a:cs typeface="Calibri"/>
            </a:endParaRPr>
          </a:p>
          <a:p>
            <a:r>
              <a:rPr lang="en-US" sz="2300" b="1">
                <a:solidFill>
                  <a:schemeClr val="bg1"/>
                </a:solidFill>
                <a:ea typeface="+mn-lt"/>
                <a:cs typeface="+mn-lt"/>
              </a:rPr>
              <a:t>2. Request Orchestration (Node.js API Gateway) :</a:t>
            </a:r>
            <a:endParaRPr lang="en-US" sz="2300" b="1">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The Express.js API Gateway receives the file and validates the authentication token via </a:t>
            </a:r>
            <a:r>
              <a:rPr lang="en-US" sz="2300" err="1">
                <a:solidFill>
                  <a:schemeClr val="bg1"/>
                </a:solidFill>
                <a:ea typeface="+mn-lt"/>
                <a:cs typeface="+mn-lt"/>
              </a:rPr>
              <a:t>Supabase</a:t>
            </a:r>
            <a:r>
              <a:rPr lang="en-US" sz="2300">
                <a:solidFill>
                  <a:schemeClr val="bg1"/>
                </a:solidFill>
                <a:ea typeface="+mn-lt"/>
                <a:cs typeface="+mn-lt"/>
              </a:rPr>
              <a:t>.</a:t>
            </a:r>
            <a:endParaRPr lang="en-US" sz="2300">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To prevent the main server from blocking during heavy uploads, it immediately registers the upload in PostgreSQL and pushes a processing job to the queue.</a:t>
            </a:r>
            <a:endParaRPr lang="en-US" sz="2300">
              <a:solidFill>
                <a:schemeClr val="bg1"/>
              </a:solidFill>
              <a:ea typeface="Calibri"/>
              <a:cs typeface="Calibri"/>
            </a:endParaRPr>
          </a:p>
          <a:p>
            <a:endParaRPr lang="en-US" sz="2300">
              <a:ea typeface="Calibri"/>
              <a:cs typeface="Calibri"/>
            </a:endParaRPr>
          </a:p>
          <a:p>
            <a:r>
              <a:rPr lang="en-US" sz="2300" b="1">
                <a:solidFill>
                  <a:schemeClr val="bg1"/>
                </a:solidFill>
                <a:ea typeface="+mn-lt"/>
                <a:cs typeface="+mn-lt"/>
              </a:rPr>
              <a:t>3. Asynchronous Queue (Redis &amp; </a:t>
            </a:r>
            <a:r>
              <a:rPr lang="en-US" sz="2300" b="1" err="1">
                <a:solidFill>
                  <a:schemeClr val="bg1"/>
                </a:solidFill>
                <a:ea typeface="+mn-lt"/>
                <a:cs typeface="+mn-lt"/>
              </a:rPr>
              <a:t>BullMQ</a:t>
            </a:r>
            <a:r>
              <a:rPr lang="en-US" sz="2300" b="1">
                <a:solidFill>
                  <a:schemeClr val="bg1"/>
                </a:solidFill>
                <a:ea typeface="+mn-lt"/>
                <a:cs typeface="+mn-lt"/>
              </a:rPr>
              <a:t>) :</a:t>
            </a:r>
            <a:endParaRPr lang="en-US" sz="2300" b="1">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The Redis cache holds the "Repository Parsing" job in a robust </a:t>
            </a:r>
            <a:r>
              <a:rPr lang="en-US" sz="2300" err="1">
                <a:solidFill>
                  <a:schemeClr val="bg1"/>
                </a:solidFill>
                <a:ea typeface="+mn-lt"/>
                <a:cs typeface="+mn-lt"/>
              </a:rPr>
              <a:t>BullMQ</a:t>
            </a:r>
            <a:r>
              <a:rPr lang="en-US" sz="2300">
                <a:solidFill>
                  <a:schemeClr val="bg1"/>
                </a:solidFill>
                <a:ea typeface="+mn-lt"/>
                <a:cs typeface="+mn-lt"/>
              </a:rPr>
              <a:t> queue.</a:t>
            </a:r>
            <a:endParaRPr lang="en-US" sz="2300">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This ensures the system remains highly responsive and can scale to handle multiple massive codebases simultaneously.</a:t>
            </a:r>
            <a:endParaRPr lang="en-US" sz="2300">
              <a:solidFill>
                <a:schemeClr val="bg1"/>
              </a:solidFill>
              <a:ea typeface="Calibri"/>
              <a:cs typeface="Calibri"/>
            </a:endParaRPr>
          </a:p>
          <a:p>
            <a:endParaRPr lang="en-US" sz="2300">
              <a:ea typeface="Calibri"/>
              <a:cs typeface="Calibri"/>
            </a:endParaRPr>
          </a:p>
          <a:p>
            <a:r>
              <a:rPr lang="en-US" sz="2300" b="1">
                <a:solidFill>
                  <a:schemeClr val="bg1"/>
                </a:solidFill>
                <a:ea typeface="+mn-lt"/>
                <a:cs typeface="+mn-lt"/>
              </a:rPr>
              <a:t>4. Code Extraction &amp; Parsing (Background Worker) :</a:t>
            </a:r>
            <a:endParaRPr lang="en-US" sz="2300" b="1">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A dedicated Node.js Background Worker picks up the job from Redis.</a:t>
            </a:r>
            <a:endParaRPr lang="en-US" sz="2300">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It unzips the repository into temporary storage and executes raw file analysis (identifying language runtimes, frameworks, and folder structures).</a:t>
            </a:r>
            <a:endParaRPr lang="en-US" sz="2300">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Crucial Step: It begins building the initial Abstract Syntax Trees (ASTs) to map out classes, functions, and imports.</a:t>
            </a:r>
            <a:endParaRPr lang="en-US" sz="2300">
              <a:solidFill>
                <a:schemeClr val="bg1"/>
              </a:solidFill>
              <a:ea typeface="Calibri"/>
              <a:cs typeface="Calibri"/>
            </a:endParaRPr>
          </a:p>
          <a:p>
            <a:endParaRPr lang="en-US" sz="2300">
              <a:ea typeface="Calibri"/>
              <a:cs typeface="Calibri"/>
            </a:endParaRPr>
          </a:p>
          <a:p>
            <a:r>
              <a:rPr lang="en-US" sz="2300" b="1">
                <a:solidFill>
                  <a:schemeClr val="bg1"/>
                </a:solidFill>
                <a:ea typeface="+mn-lt"/>
                <a:cs typeface="+mn-lt"/>
              </a:rPr>
              <a:t>5. Database Seeding &amp; AI Handoff :</a:t>
            </a:r>
            <a:endParaRPr lang="en-US" sz="2300" b="1">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The parsed structural data is saved into Neo4j (Graph Database) to map dependencies and PostgreSQL for tabular metadata.</a:t>
            </a:r>
            <a:endParaRPr lang="en-US" sz="2300">
              <a:solidFill>
                <a:schemeClr val="bg1"/>
              </a:solidFill>
              <a:ea typeface="Calibri"/>
              <a:cs typeface="Calibri"/>
            </a:endParaRPr>
          </a:p>
          <a:p>
            <a:pPr marL="800100" lvl="1" indent="-342900">
              <a:buFont typeface="Courier New"/>
              <a:buChar char="o"/>
            </a:pPr>
            <a:r>
              <a:rPr lang="en-US" sz="2300">
                <a:solidFill>
                  <a:schemeClr val="bg1"/>
                </a:solidFill>
                <a:ea typeface="+mn-lt"/>
                <a:cs typeface="+mn-lt"/>
              </a:rPr>
              <a:t>The background worker then signals the Python </a:t>
            </a:r>
            <a:r>
              <a:rPr lang="en-US" sz="2300" err="1">
                <a:solidFill>
                  <a:schemeClr val="bg1"/>
                </a:solidFill>
                <a:ea typeface="+mn-lt"/>
                <a:cs typeface="+mn-lt"/>
              </a:rPr>
              <a:t>FastAPI</a:t>
            </a:r>
            <a:r>
              <a:rPr lang="en-US" sz="2300">
                <a:solidFill>
                  <a:schemeClr val="bg1"/>
                </a:solidFill>
                <a:ea typeface="+mn-lt"/>
                <a:cs typeface="+mn-lt"/>
              </a:rPr>
              <a:t> Service, handing off the prepared data to the Multi-Agent AI Framework to begin intelligent decomposition.</a:t>
            </a:r>
            <a:endParaRPr lang="en-US" sz="2300">
              <a:solidFill>
                <a:schemeClr val="bg1"/>
              </a:solidFill>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grpSp>
        <p:nvGrpSpPr>
          <p:cNvPr id="2" name="Group 2"/>
          <p:cNvGrpSpPr/>
          <p:nvPr/>
        </p:nvGrpSpPr>
        <p:grpSpPr>
          <a:xfrm>
            <a:off x="5002428" y="2777839"/>
            <a:ext cx="2815589" cy="2879300"/>
            <a:chOff x="-83037" y="-146974"/>
            <a:chExt cx="819637" cy="883574"/>
          </a:xfrm>
        </p:grpSpPr>
        <p:sp>
          <p:nvSpPr>
            <p:cNvPr id="3" name="Freeform 3"/>
            <p:cNvSpPr/>
            <p:nvPr/>
          </p:nvSpPr>
          <p:spPr>
            <a:xfrm>
              <a:off x="-83037" y="-146974"/>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50000"/>
                  </a:srgbClr>
                </a:gs>
                <a:gs pos="100000">
                  <a:srgbClr val="E4F2FF">
                    <a:alpha val="50000"/>
                  </a:srgbClr>
                </a:gs>
              </a:gsLst>
              <a:lin ang="0"/>
            </a:gradFill>
            <a:ln w="38100" cap="sq">
              <a:solidFill>
                <a:srgbClr val="FFFFFF">
                  <a:alpha val="49804"/>
                </a:srgbClr>
              </a:solidFill>
              <a:prstDash val="solid"/>
              <a:miter/>
            </a:ln>
          </p:spPr>
        </p:sp>
        <p:sp>
          <p:nvSpPr>
            <p:cNvPr id="4" name="TextBox 4"/>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sp>
        <p:nvSpPr>
          <p:cNvPr id="5" name="Freeform 5"/>
          <p:cNvSpPr/>
          <p:nvPr/>
        </p:nvSpPr>
        <p:spPr>
          <a:xfrm>
            <a:off x="-13420087" y="5734272"/>
            <a:ext cx="18339515" cy="9403170"/>
          </a:xfrm>
          <a:custGeom>
            <a:avLst/>
            <a:gdLst/>
            <a:ahLst/>
            <a:cxnLst/>
            <a:rect l="l" t="t" r="r" b="b"/>
            <a:pathLst>
              <a:path w="18339515" h="9403170">
                <a:moveTo>
                  <a:pt x="0" y="0"/>
                </a:moveTo>
                <a:lnTo>
                  <a:pt x="18339516" y="0"/>
                </a:lnTo>
                <a:lnTo>
                  <a:pt x="18339516" y="9403170"/>
                </a:lnTo>
                <a:lnTo>
                  <a:pt x="0" y="9403170"/>
                </a:lnTo>
                <a:lnTo>
                  <a:pt x="0" y="0"/>
                </a:lnTo>
                <a:close/>
              </a:path>
            </a:pathLst>
          </a:custGeom>
          <a:blipFill>
            <a:blip r:embed="rId2">
              <a:alphaModFix amt="16000"/>
            </a:blip>
            <a:stretch>
              <a:fillRect/>
            </a:stretch>
          </a:blipFill>
        </p:spPr>
      </p:sp>
      <p:sp>
        <p:nvSpPr>
          <p:cNvPr id="7" name="Freeform 7"/>
          <p:cNvSpPr/>
          <p:nvPr/>
        </p:nvSpPr>
        <p:spPr>
          <a:xfrm>
            <a:off x="1194988" y="5498655"/>
            <a:ext cx="2656259" cy="2455461"/>
          </a:xfrm>
          <a:custGeom>
            <a:avLst/>
            <a:gdLst/>
            <a:ahLst/>
            <a:cxnLst/>
            <a:rect l="l" t="t" r="r" b="b"/>
            <a:pathLst>
              <a:path w="3845596" h="3845596">
                <a:moveTo>
                  <a:pt x="0" y="0"/>
                </a:moveTo>
                <a:lnTo>
                  <a:pt x="3845596" y="0"/>
                </a:lnTo>
                <a:lnTo>
                  <a:pt x="3845596" y="3845596"/>
                </a:lnTo>
                <a:lnTo>
                  <a:pt x="0" y="3845596"/>
                </a:lnTo>
                <a:lnTo>
                  <a:pt x="0" y="0"/>
                </a:lnTo>
                <a:close/>
              </a:path>
            </a:pathLst>
          </a:custGeom>
          <a:blipFill>
            <a:blip r:embed="rId3"/>
            <a:stretch>
              <a:fillRect/>
            </a:stretch>
          </a:blipFill>
        </p:spPr>
      </p:sp>
      <p:sp>
        <p:nvSpPr>
          <p:cNvPr id="15" name="TextBox 10">
            <a:extLst>
              <a:ext uri="{FF2B5EF4-FFF2-40B4-BE49-F238E27FC236}">
                <a16:creationId xmlns:a16="http://schemas.microsoft.com/office/drawing/2014/main" id="{26F565F3-1543-8A5B-4BDE-7D28EBFCC6DA}"/>
              </a:ext>
            </a:extLst>
          </p:cNvPr>
          <p:cNvSpPr txBox="1"/>
          <p:nvPr/>
        </p:nvSpPr>
        <p:spPr>
          <a:xfrm>
            <a:off x="536296" y="152816"/>
            <a:ext cx="21715648" cy="100033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8460"/>
              </a:lnSpc>
            </a:pPr>
            <a:r>
              <a:rPr lang="en-US" sz="5400" b="1" spc="-422">
                <a:solidFill>
                  <a:srgbClr val="FFFFFF"/>
                </a:solidFill>
                <a:ea typeface="+mn-lt"/>
                <a:cs typeface="+mn-lt"/>
                <a:sym typeface="Open Sauce Heavy"/>
              </a:rPr>
              <a:t>Multi-Agent AI Framework for Monolith to Microservices Transformation</a:t>
            </a:r>
            <a:endParaRPr lang="en-US" sz="5400" b="1">
              <a:ea typeface="Calibri"/>
              <a:cs typeface="Calibri"/>
            </a:endParaRPr>
          </a:p>
        </p:txBody>
      </p:sp>
      <p:sp>
        <p:nvSpPr>
          <p:cNvPr id="16" name="TextBox 15">
            <a:extLst>
              <a:ext uri="{FF2B5EF4-FFF2-40B4-BE49-F238E27FC236}">
                <a16:creationId xmlns:a16="http://schemas.microsoft.com/office/drawing/2014/main" id="{6ED5B19A-1E42-F9A8-F326-9B20537D97EF}"/>
              </a:ext>
            </a:extLst>
          </p:cNvPr>
          <p:cNvSpPr txBox="1"/>
          <p:nvPr/>
        </p:nvSpPr>
        <p:spPr>
          <a:xfrm>
            <a:off x="1451916" y="6118521"/>
            <a:ext cx="215299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ea typeface="Calibri"/>
                <a:cs typeface="Calibri"/>
              </a:rPr>
              <a:t>Analysis Agent</a:t>
            </a:r>
            <a:endParaRPr lang="en-US"/>
          </a:p>
        </p:txBody>
      </p:sp>
      <p:sp>
        <p:nvSpPr>
          <p:cNvPr id="17" name="TextBox 16">
            <a:extLst>
              <a:ext uri="{FF2B5EF4-FFF2-40B4-BE49-F238E27FC236}">
                <a16:creationId xmlns:a16="http://schemas.microsoft.com/office/drawing/2014/main" id="{E8E29965-2267-C98E-DD91-FF9DE500CAE4}"/>
              </a:ext>
            </a:extLst>
          </p:cNvPr>
          <p:cNvSpPr txBox="1"/>
          <p:nvPr/>
        </p:nvSpPr>
        <p:spPr>
          <a:xfrm>
            <a:off x="5004483" y="3554492"/>
            <a:ext cx="281716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ea typeface="Calibri"/>
                <a:cs typeface="Calibri"/>
              </a:rPr>
              <a:t>Intelligence</a:t>
            </a:r>
          </a:p>
          <a:p>
            <a:pPr algn="ctr"/>
            <a:r>
              <a:rPr lang="en-US" sz="3600" b="1">
                <a:ea typeface="Calibri"/>
                <a:cs typeface="Calibri"/>
              </a:rPr>
              <a:t>Agent</a:t>
            </a:r>
          </a:p>
        </p:txBody>
      </p:sp>
      <p:grpSp>
        <p:nvGrpSpPr>
          <p:cNvPr id="18" name="Group 2">
            <a:extLst>
              <a:ext uri="{FF2B5EF4-FFF2-40B4-BE49-F238E27FC236}">
                <a16:creationId xmlns:a16="http://schemas.microsoft.com/office/drawing/2014/main" id="{8B0C2512-A5A5-E50B-EE2F-95F7EED157C1}"/>
              </a:ext>
            </a:extLst>
          </p:cNvPr>
          <p:cNvGrpSpPr/>
          <p:nvPr/>
        </p:nvGrpSpPr>
        <p:grpSpPr>
          <a:xfrm>
            <a:off x="10145928" y="3040420"/>
            <a:ext cx="2661128" cy="2585827"/>
            <a:chOff x="-83037" y="-146974"/>
            <a:chExt cx="819637" cy="883574"/>
          </a:xfrm>
        </p:grpSpPr>
        <p:sp>
          <p:nvSpPr>
            <p:cNvPr id="19" name="Freeform 3">
              <a:extLst>
                <a:ext uri="{FF2B5EF4-FFF2-40B4-BE49-F238E27FC236}">
                  <a16:creationId xmlns:a16="http://schemas.microsoft.com/office/drawing/2014/main" id="{6B1904E9-9B13-0B96-BD8C-5886523D5049}"/>
                </a:ext>
              </a:extLst>
            </p:cNvPr>
            <p:cNvSpPr/>
            <p:nvPr/>
          </p:nvSpPr>
          <p:spPr>
            <a:xfrm>
              <a:off x="-83037" y="-146974"/>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A0CEFD">
                    <a:alpha val="50000"/>
                  </a:srgbClr>
                </a:gs>
                <a:gs pos="100000">
                  <a:srgbClr val="E4F2FF">
                    <a:alpha val="50000"/>
                  </a:srgbClr>
                </a:gs>
              </a:gsLst>
              <a:lin ang="0"/>
            </a:gradFill>
            <a:ln w="38100" cap="sq">
              <a:solidFill>
                <a:srgbClr val="FFFFFF">
                  <a:alpha val="49804"/>
                </a:srgbClr>
              </a:solidFill>
              <a:prstDash val="solid"/>
              <a:miter/>
            </a:ln>
          </p:spPr>
        </p:sp>
        <p:sp>
          <p:nvSpPr>
            <p:cNvPr id="20" name="TextBox 4">
              <a:extLst>
                <a:ext uri="{FF2B5EF4-FFF2-40B4-BE49-F238E27FC236}">
                  <a16:creationId xmlns:a16="http://schemas.microsoft.com/office/drawing/2014/main" id="{D38C954B-AFBE-5D11-EB34-5813F1DC5B8A}"/>
                </a:ext>
              </a:extLst>
            </p:cNvPr>
            <p:cNvSpPr txBox="1"/>
            <p:nvPr/>
          </p:nvSpPr>
          <p:spPr>
            <a:xfrm>
              <a:off x="76200" y="142875"/>
              <a:ext cx="660400" cy="593725"/>
            </a:xfrm>
            <a:prstGeom prst="rect">
              <a:avLst/>
            </a:prstGeom>
          </p:spPr>
          <p:txBody>
            <a:bodyPr lIns="50800" tIns="50800" rIns="50800" bIns="50800" rtlCol="0" anchor="ctr"/>
            <a:lstStyle/>
            <a:p>
              <a:pPr algn="ctr">
                <a:lnSpc>
                  <a:spcPts val="2350"/>
                </a:lnSpc>
              </a:pPr>
              <a:endParaRPr/>
            </a:p>
          </p:txBody>
        </p:sp>
      </p:grpSp>
      <p:sp>
        <p:nvSpPr>
          <p:cNvPr id="21" name="Freeform 7">
            <a:extLst>
              <a:ext uri="{FF2B5EF4-FFF2-40B4-BE49-F238E27FC236}">
                <a16:creationId xmlns:a16="http://schemas.microsoft.com/office/drawing/2014/main" id="{B282251A-26B3-01E0-7ED8-815C735BD02F}"/>
              </a:ext>
            </a:extLst>
          </p:cNvPr>
          <p:cNvSpPr/>
          <p:nvPr/>
        </p:nvSpPr>
        <p:spPr>
          <a:xfrm>
            <a:off x="7419701" y="5529547"/>
            <a:ext cx="2748936" cy="2532691"/>
          </a:xfrm>
          <a:custGeom>
            <a:avLst/>
            <a:gdLst/>
            <a:ahLst/>
            <a:cxnLst/>
            <a:rect l="l" t="t" r="r" b="b"/>
            <a:pathLst>
              <a:path w="3845596" h="3845596">
                <a:moveTo>
                  <a:pt x="0" y="0"/>
                </a:moveTo>
                <a:lnTo>
                  <a:pt x="3845596" y="0"/>
                </a:lnTo>
                <a:lnTo>
                  <a:pt x="3845596" y="3845596"/>
                </a:lnTo>
                <a:lnTo>
                  <a:pt x="0" y="3845596"/>
                </a:lnTo>
                <a:lnTo>
                  <a:pt x="0" y="0"/>
                </a:lnTo>
                <a:close/>
              </a:path>
            </a:pathLst>
          </a:custGeom>
          <a:blipFill>
            <a:blip r:embed="rId3"/>
            <a:stretch>
              <a:fillRect/>
            </a:stretch>
          </a:blipFill>
        </p:spPr>
      </p:sp>
      <p:sp>
        <p:nvSpPr>
          <p:cNvPr id="22" name="TextBox 21">
            <a:extLst>
              <a:ext uri="{FF2B5EF4-FFF2-40B4-BE49-F238E27FC236}">
                <a16:creationId xmlns:a16="http://schemas.microsoft.com/office/drawing/2014/main" id="{D7BD1F09-4581-3BB8-2B40-D04ED819B6C1}"/>
              </a:ext>
            </a:extLst>
          </p:cNvPr>
          <p:cNvSpPr txBox="1"/>
          <p:nvPr/>
        </p:nvSpPr>
        <p:spPr>
          <a:xfrm>
            <a:off x="6008471" y="6226643"/>
            <a:ext cx="5581989"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ea typeface="Calibri"/>
                <a:cs typeface="Calibri"/>
              </a:rPr>
              <a:t>Decomposition</a:t>
            </a:r>
            <a:endParaRPr lang="en-US" sz="3200">
              <a:ea typeface="Calibri"/>
              <a:cs typeface="Calibri"/>
            </a:endParaRPr>
          </a:p>
          <a:p>
            <a:pPr algn="ctr"/>
            <a:r>
              <a:rPr lang="en-US" sz="3600" b="1">
                <a:ea typeface="Calibri"/>
                <a:cs typeface="Calibri"/>
              </a:rPr>
              <a:t>Agent</a:t>
            </a:r>
            <a:endParaRPr lang="en-US">
              <a:ea typeface="Calibri"/>
              <a:cs typeface="Calibri"/>
            </a:endParaRPr>
          </a:p>
        </p:txBody>
      </p:sp>
      <p:sp>
        <p:nvSpPr>
          <p:cNvPr id="23" name="TextBox 22">
            <a:extLst>
              <a:ext uri="{FF2B5EF4-FFF2-40B4-BE49-F238E27FC236}">
                <a16:creationId xmlns:a16="http://schemas.microsoft.com/office/drawing/2014/main" id="{0C1F9411-5253-6BAA-CC8D-529D8F2EB23C}"/>
              </a:ext>
            </a:extLst>
          </p:cNvPr>
          <p:cNvSpPr txBox="1"/>
          <p:nvPr/>
        </p:nvSpPr>
        <p:spPr>
          <a:xfrm>
            <a:off x="9993523" y="3569938"/>
            <a:ext cx="281716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ea typeface="Calibri"/>
                <a:cs typeface="Calibri"/>
              </a:rPr>
              <a:t>Planning</a:t>
            </a:r>
            <a:endParaRPr lang="en-US"/>
          </a:p>
          <a:p>
            <a:pPr algn="ctr"/>
            <a:r>
              <a:rPr lang="en-US" sz="3600" b="1">
                <a:ea typeface="Calibri"/>
                <a:cs typeface="Calibri"/>
              </a:rPr>
              <a:t>Agent</a:t>
            </a:r>
          </a:p>
        </p:txBody>
      </p:sp>
      <p:sp>
        <p:nvSpPr>
          <p:cNvPr id="25" name="Freeform 7">
            <a:extLst>
              <a:ext uri="{FF2B5EF4-FFF2-40B4-BE49-F238E27FC236}">
                <a16:creationId xmlns:a16="http://schemas.microsoft.com/office/drawing/2014/main" id="{A62405A9-AB79-56E5-BAD0-D2F8E441EB17}"/>
              </a:ext>
            </a:extLst>
          </p:cNvPr>
          <p:cNvSpPr/>
          <p:nvPr/>
        </p:nvSpPr>
        <p:spPr>
          <a:xfrm>
            <a:off x="14679298" y="3212655"/>
            <a:ext cx="2409124" cy="2362785"/>
          </a:xfrm>
          <a:custGeom>
            <a:avLst/>
            <a:gdLst/>
            <a:ahLst/>
            <a:cxnLst/>
            <a:rect l="l" t="t" r="r" b="b"/>
            <a:pathLst>
              <a:path w="3845596" h="3845596">
                <a:moveTo>
                  <a:pt x="0" y="0"/>
                </a:moveTo>
                <a:lnTo>
                  <a:pt x="3845596" y="0"/>
                </a:lnTo>
                <a:lnTo>
                  <a:pt x="3845596" y="3845596"/>
                </a:lnTo>
                <a:lnTo>
                  <a:pt x="0" y="3845596"/>
                </a:lnTo>
                <a:lnTo>
                  <a:pt x="0" y="0"/>
                </a:lnTo>
                <a:close/>
              </a:path>
            </a:pathLst>
          </a:custGeom>
          <a:blipFill>
            <a:blip r:embed="rId3"/>
            <a:stretch>
              <a:fillRect/>
            </a:stretch>
          </a:blipFill>
        </p:spPr>
      </p:sp>
      <p:sp>
        <p:nvSpPr>
          <p:cNvPr id="26" name="TextBox 25">
            <a:extLst>
              <a:ext uri="{FF2B5EF4-FFF2-40B4-BE49-F238E27FC236}">
                <a16:creationId xmlns:a16="http://schemas.microsoft.com/office/drawing/2014/main" id="{9403DB48-2FF0-04AF-E8BC-0DD82320A1BF}"/>
              </a:ext>
            </a:extLst>
          </p:cNvPr>
          <p:cNvSpPr txBox="1"/>
          <p:nvPr/>
        </p:nvSpPr>
        <p:spPr>
          <a:xfrm>
            <a:off x="13067266" y="3878859"/>
            <a:ext cx="553565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ea typeface="Calibri"/>
                <a:cs typeface="Calibri"/>
              </a:rPr>
              <a:t>Blueprint</a:t>
            </a:r>
            <a:endParaRPr lang="en-US">
              <a:ea typeface="Calibri"/>
              <a:cs typeface="Calibri"/>
            </a:endParaRPr>
          </a:p>
          <a:p>
            <a:pPr algn="ctr"/>
            <a:r>
              <a:rPr lang="en-US" sz="3600" b="1">
                <a:ea typeface="Calibri"/>
                <a:cs typeface="Calibri"/>
              </a:rPr>
              <a:t>Agent</a:t>
            </a:r>
            <a:endParaRPr lang="en-US">
              <a:ea typeface="Calibri"/>
              <a:cs typeface="Calibri"/>
            </a:endParaRPr>
          </a:p>
        </p:txBody>
      </p:sp>
      <p:sp>
        <p:nvSpPr>
          <p:cNvPr id="27" name="TextBox 26">
            <a:extLst>
              <a:ext uri="{FF2B5EF4-FFF2-40B4-BE49-F238E27FC236}">
                <a16:creationId xmlns:a16="http://schemas.microsoft.com/office/drawing/2014/main" id="{DD2A6F11-978D-BD89-DF4D-370C104378F8}"/>
              </a:ext>
            </a:extLst>
          </p:cNvPr>
          <p:cNvSpPr txBox="1"/>
          <p:nvPr/>
        </p:nvSpPr>
        <p:spPr>
          <a:xfrm>
            <a:off x="11476339" y="7321379"/>
            <a:ext cx="6873446"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chemeClr val="bg1"/>
                </a:solidFill>
              </a:rPr>
              <a:t>An AI-generated </a:t>
            </a:r>
            <a:r>
              <a:rPr lang="en-US" sz="2800" b="1">
                <a:solidFill>
                  <a:schemeClr val="bg1"/>
                </a:solidFill>
              </a:rPr>
              <a:t>cloud-ready microservices transformation blueprint</a:t>
            </a:r>
            <a:r>
              <a:rPr lang="en-US" sz="2800">
                <a:solidFill>
                  <a:schemeClr val="bg1"/>
                </a:solidFill>
              </a:rPr>
              <a:t> containing optimized service architecture, migration roadmap, deployment artifacts, and technical documentation.</a:t>
            </a:r>
            <a:endParaRPr lang="en-US" sz="2800">
              <a:solidFill>
                <a:schemeClr val="bg1"/>
              </a:solidFill>
              <a:ea typeface="Calibri"/>
              <a:cs typeface="Calibri"/>
            </a:endParaRPr>
          </a:p>
          <a:p>
            <a:pPr algn="ctr"/>
            <a:endParaRPr lang="en-US"/>
          </a:p>
        </p:txBody>
      </p:sp>
      <p:sp>
        <p:nvSpPr>
          <p:cNvPr id="32" name="Arrow: Right 31">
            <a:extLst>
              <a:ext uri="{FF2B5EF4-FFF2-40B4-BE49-F238E27FC236}">
                <a16:creationId xmlns:a16="http://schemas.microsoft.com/office/drawing/2014/main" id="{76FCD59B-2A1A-4210-3E53-CE51DC3CDC6D}"/>
              </a:ext>
            </a:extLst>
          </p:cNvPr>
          <p:cNvSpPr/>
          <p:nvPr/>
        </p:nvSpPr>
        <p:spPr>
          <a:xfrm rot="-2280000">
            <a:off x="3819609" y="5170377"/>
            <a:ext cx="1517024" cy="527737"/>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ECB217B6-8064-B00C-5FEE-E045778A4A5E}"/>
              </a:ext>
            </a:extLst>
          </p:cNvPr>
          <p:cNvPicPr>
            <a:picLocks noChangeAspect="1"/>
          </p:cNvPicPr>
          <p:nvPr/>
        </p:nvPicPr>
        <p:blipFill>
          <a:blip r:embed="rId4"/>
          <a:stretch>
            <a:fillRect/>
          </a:stretch>
        </p:blipFill>
        <p:spPr>
          <a:xfrm>
            <a:off x="702403" y="1787609"/>
            <a:ext cx="2209544" cy="2170670"/>
          </a:xfrm>
          <a:prstGeom prst="rect">
            <a:avLst/>
          </a:prstGeom>
        </p:spPr>
      </p:pic>
      <p:sp>
        <p:nvSpPr>
          <p:cNvPr id="34" name="Arrow: Right 33">
            <a:extLst>
              <a:ext uri="{FF2B5EF4-FFF2-40B4-BE49-F238E27FC236}">
                <a16:creationId xmlns:a16="http://schemas.microsoft.com/office/drawing/2014/main" id="{A1E31DA8-E5E3-8838-263F-C4247F2F8FD7}"/>
              </a:ext>
            </a:extLst>
          </p:cNvPr>
          <p:cNvSpPr/>
          <p:nvPr/>
        </p:nvSpPr>
        <p:spPr>
          <a:xfrm rot="3300000">
            <a:off x="6958689" y="5380211"/>
            <a:ext cx="1007308" cy="496846"/>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B1858AE6-D5CE-03B9-F0EE-5F2E4E88EB3B}"/>
              </a:ext>
            </a:extLst>
          </p:cNvPr>
          <p:cNvSpPr/>
          <p:nvPr/>
        </p:nvSpPr>
        <p:spPr>
          <a:xfrm rot="-2280000">
            <a:off x="9552048" y="5104854"/>
            <a:ext cx="1115431" cy="543180"/>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Right 35">
            <a:extLst>
              <a:ext uri="{FF2B5EF4-FFF2-40B4-BE49-F238E27FC236}">
                <a16:creationId xmlns:a16="http://schemas.microsoft.com/office/drawing/2014/main" id="{29C24FD5-2B2E-2C37-F6DE-173C453B9F13}"/>
              </a:ext>
            </a:extLst>
          </p:cNvPr>
          <p:cNvSpPr/>
          <p:nvPr/>
        </p:nvSpPr>
        <p:spPr>
          <a:xfrm>
            <a:off x="12937471" y="3902173"/>
            <a:ext cx="1748713" cy="574075"/>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Right 36">
            <a:extLst>
              <a:ext uri="{FF2B5EF4-FFF2-40B4-BE49-F238E27FC236}">
                <a16:creationId xmlns:a16="http://schemas.microsoft.com/office/drawing/2014/main" id="{D049C86D-1A2C-CAB5-0413-A054CC584D75}"/>
              </a:ext>
            </a:extLst>
          </p:cNvPr>
          <p:cNvSpPr/>
          <p:nvPr/>
        </p:nvSpPr>
        <p:spPr>
          <a:xfrm rot="6720000">
            <a:off x="14930003" y="6194170"/>
            <a:ext cx="1053646" cy="713087"/>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Right 37">
            <a:extLst>
              <a:ext uri="{FF2B5EF4-FFF2-40B4-BE49-F238E27FC236}">
                <a16:creationId xmlns:a16="http://schemas.microsoft.com/office/drawing/2014/main" id="{56AAC4C0-B27E-93EE-8D29-DB88E2B65CD8}"/>
              </a:ext>
            </a:extLst>
          </p:cNvPr>
          <p:cNvSpPr/>
          <p:nvPr/>
        </p:nvSpPr>
        <p:spPr>
          <a:xfrm rot="4500000">
            <a:off x="1325649" y="4486565"/>
            <a:ext cx="1378009" cy="666750"/>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DDBADA8F-0DBF-6CB1-9807-1A9429B71A88}"/>
              </a:ext>
            </a:extLst>
          </p:cNvPr>
          <p:cNvSpPr txBox="1"/>
          <p:nvPr/>
        </p:nvSpPr>
        <p:spPr>
          <a:xfrm>
            <a:off x="525161" y="8140014"/>
            <a:ext cx="383059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a:solidFill>
                  <a:schemeClr val="bg1"/>
                </a:solidFill>
              </a:rPr>
              <a:t>Performs AST-based code parsing </a:t>
            </a:r>
            <a:endParaRPr lang="en-US">
              <a:solidFill>
                <a:schemeClr val="bg1"/>
              </a:solidFill>
              <a:ea typeface="Calibri"/>
              <a:cs typeface="Calibri"/>
            </a:endParaRPr>
          </a:p>
          <a:p>
            <a:pPr marL="342900" indent="-342900">
              <a:buFont typeface="Arial"/>
              <a:buChar char="•"/>
            </a:pPr>
            <a:r>
              <a:rPr lang="en-US">
                <a:solidFill>
                  <a:schemeClr val="bg1"/>
                </a:solidFill>
              </a:rPr>
              <a:t>Extracts modules, classes, functions, APIs, and dependencies </a:t>
            </a:r>
            <a:endParaRPr lang="en-US">
              <a:solidFill>
                <a:schemeClr val="bg1"/>
              </a:solidFill>
              <a:ea typeface="Calibri"/>
              <a:cs typeface="Calibri"/>
            </a:endParaRPr>
          </a:p>
          <a:p>
            <a:pPr marL="342900" indent="-342900">
              <a:buFont typeface="Arial"/>
              <a:buChar char="•"/>
            </a:pPr>
            <a:r>
              <a:rPr lang="en-US">
                <a:solidFill>
                  <a:schemeClr val="bg1"/>
                </a:solidFill>
              </a:rPr>
              <a:t>Builds application dependency graph using Neo4j</a:t>
            </a:r>
            <a:endParaRPr lang="en-US">
              <a:solidFill>
                <a:schemeClr val="bg1"/>
              </a:solidFill>
              <a:ea typeface="Calibri"/>
              <a:cs typeface="Calibri"/>
            </a:endParaRPr>
          </a:p>
          <a:p>
            <a:pPr algn="ctr"/>
            <a:endParaRPr lang="en-US">
              <a:ea typeface="Calibri"/>
              <a:cs typeface="Calibri"/>
            </a:endParaRPr>
          </a:p>
        </p:txBody>
      </p:sp>
      <p:sp>
        <p:nvSpPr>
          <p:cNvPr id="40" name="TextBox 39">
            <a:extLst>
              <a:ext uri="{FF2B5EF4-FFF2-40B4-BE49-F238E27FC236}">
                <a16:creationId xmlns:a16="http://schemas.microsoft.com/office/drawing/2014/main" id="{03250CD8-40CB-6E35-2B1C-FC51CB103421}"/>
              </a:ext>
            </a:extLst>
          </p:cNvPr>
          <p:cNvSpPr txBox="1"/>
          <p:nvPr/>
        </p:nvSpPr>
        <p:spPr>
          <a:xfrm>
            <a:off x="3073745" y="1590929"/>
            <a:ext cx="386148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a:solidFill>
                  <a:schemeClr val="bg1"/>
                </a:solidFill>
              </a:rPr>
              <a:t>Uses LLMs (Gemini/</a:t>
            </a:r>
            <a:r>
              <a:rPr lang="en-US" err="1">
                <a:solidFill>
                  <a:schemeClr val="bg1"/>
                </a:solidFill>
              </a:rPr>
              <a:t>OpenRouter</a:t>
            </a:r>
            <a:r>
              <a:rPr lang="en-US">
                <a:solidFill>
                  <a:schemeClr val="bg1"/>
                </a:solidFill>
              </a:rPr>
              <a:t>) for semantic understanding </a:t>
            </a:r>
            <a:endParaRPr lang="en-US">
              <a:solidFill>
                <a:schemeClr val="bg1"/>
              </a:solidFill>
              <a:ea typeface="Calibri"/>
              <a:cs typeface="Calibri"/>
            </a:endParaRPr>
          </a:p>
          <a:p>
            <a:pPr marL="342900" indent="-342900">
              <a:buFont typeface="Arial"/>
              <a:buChar char="•"/>
            </a:pPr>
            <a:r>
              <a:rPr lang="en-US">
                <a:solidFill>
                  <a:schemeClr val="bg1"/>
                </a:solidFill>
              </a:rPr>
              <a:t>Detects risks, sensitive data flows, and architectural patterns</a:t>
            </a:r>
            <a:endParaRPr lang="en-US">
              <a:solidFill>
                <a:schemeClr val="bg1"/>
              </a:solidFill>
              <a:ea typeface="Calibri"/>
              <a:cs typeface="Calibri"/>
            </a:endParaRPr>
          </a:p>
          <a:p>
            <a:pPr algn="ctr"/>
            <a:endParaRPr lang="en-US"/>
          </a:p>
        </p:txBody>
      </p:sp>
      <p:sp>
        <p:nvSpPr>
          <p:cNvPr id="41" name="TextBox 40">
            <a:extLst>
              <a:ext uri="{FF2B5EF4-FFF2-40B4-BE49-F238E27FC236}">
                <a16:creationId xmlns:a16="http://schemas.microsoft.com/office/drawing/2014/main" id="{92B07656-FB32-E82B-1E52-0DC0B7A3BA91}"/>
              </a:ext>
            </a:extLst>
          </p:cNvPr>
          <p:cNvSpPr txBox="1"/>
          <p:nvPr/>
        </p:nvSpPr>
        <p:spPr>
          <a:xfrm>
            <a:off x="8178034" y="1444790"/>
            <a:ext cx="361435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a:solidFill>
                  <a:schemeClr val="bg1"/>
                </a:solidFill>
                <a:ea typeface="+mn-lt"/>
                <a:cs typeface="+mn-lt"/>
              </a:rPr>
              <a:t>Generates migration sequence </a:t>
            </a:r>
            <a:endParaRPr lang="en-US">
              <a:solidFill>
                <a:schemeClr val="bg1"/>
              </a:solidFill>
              <a:ea typeface="Calibri"/>
              <a:cs typeface="Calibri"/>
            </a:endParaRPr>
          </a:p>
          <a:p>
            <a:pPr marL="342900" indent="-342900">
              <a:buFont typeface="Arial"/>
              <a:buChar char="•"/>
            </a:pPr>
            <a:r>
              <a:rPr lang="en-US">
                <a:solidFill>
                  <a:schemeClr val="bg1"/>
                </a:solidFill>
                <a:ea typeface="+mn-lt"/>
                <a:cs typeface="+mn-lt"/>
              </a:rPr>
              <a:t>Estimates cloud cost and performance impact </a:t>
            </a:r>
            <a:endParaRPr lang="en-US">
              <a:solidFill>
                <a:schemeClr val="bg1"/>
              </a:solidFill>
              <a:ea typeface="Calibri"/>
              <a:cs typeface="Calibri"/>
            </a:endParaRPr>
          </a:p>
          <a:p>
            <a:pPr marL="342900" indent="-342900">
              <a:buFont typeface="Arial"/>
              <a:buChar char="•"/>
            </a:pPr>
            <a:r>
              <a:rPr lang="en-US">
                <a:solidFill>
                  <a:schemeClr val="bg1"/>
                </a:solidFill>
                <a:ea typeface="+mn-lt"/>
                <a:cs typeface="+mn-lt"/>
              </a:rPr>
              <a:t>Evaluates security and data consistency requirements</a:t>
            </a:r>
            <a:endParaRPr lang="en-US">
              <a:solidFill>
                <a:schemeClr val="bg1"/>
              </a:solidFill>
              <a:ea typeface="Calibri"/>
              <a:cs typeface="Calibri"/>
            </a:endParaRPr>
          </a:p>
          <a:p>
            <a:pPr>
              <a:buFont typeface="Arial"/>
              <a:buChar char="•"/>
            </a:pPr>
            <a:endParaRPr lang="en-US">
              <a:solidFill>
                <a:schemeClr val="bg1"/>
              </a:solidFill>
              <a:ea typeface="Calibri"/>
              <a:cs typeface="Calibri"/>
            </a:endParaRPr>
          </a:p>
        </p:txBody>
      </p:sp>
      <p:sp>
        <p:nvSpPr>
          <p:cNvPr id="42" name="TextBox 41">
            <a:extLst>
              <a:ext uri="{FF2B5EF4-FFF2-40B4-BE49-F238E27FC236}">
                <a16:creationId xmlns:a16="http://schemas.microsoft.com/office/drawing/2014/main" id="{35A83B94-B7D0-A01E-73A7-92169A7E5CF0}"/>
              </a:ext>
            </a:extLst>
          </p:cNvPr>
          <p:cNvSpPr txBox="1"/>
          <p:nvPr/>
        </p:nvSpPr>
        <p:spPr>
          <a:xfrm>
            <a:off x="13067270" y="1544596"/>
            <a:ext cx="401594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rPr>
              <a:t>Creates deployment specifications </a:t>
            </a:r>
            <a:endParaRPr lang="en-US">
              <a:solidFill>
                <a:schemeClr val="bg1"/>
              </a:solidFill>
              <a:ea typeface="Calibri"/>
              <a:cs typeface="Calibri"/>
            </a:endParaRPr>
          </a:p>
          <a:p>
            <a:pPr marL="285750" indent="-285750">
              <a:buFont typeface="Arial"/>
              <a:buChar char="•"/>
            </a:pPr>
            <a:r>
              <a:rPr lang="en-US">
                <a:solidFill>
                  <a:schemeClr val="bg1"/>
                </a:solidFill>
              </a:rPr>
              <a:t>Generates API contracts and infrastructure templates </a:t>
            </a:r>
            <a:endParaRPr lang="en-US">
              <a:solidFill>
                <a:schemeClr val="bg1"/>
              </a:solidFill>
              <a:ea typeface="Calibri"/>
              <a:cs typeface="Calibri"/>
            </a:endParaRPr>
          </a:p>
          <a:p>
            <a:pPr marL="285750" indent="-285750">
              <a:buFont typeface="Arial"/>
              <a:buChar char="•"/>
            </a:pPr>
            <a:r>
              <a:rPr lang="en-US">
                <a:solidFill>
                  <a:schemeClr val="bg1"/>
                </a:solidFill>
              </a:rPr>
              <a:t>Produces Kubernetes/Docker configurations</a:t>
            </a:r>
            <a:endParaRPr lang="en-US">
              <a:solidFill>
                <a:schemeClr val="bg1"/>
              </a:solidFill>
              <a:ea typeface="Calibri"/>
              <a:cs typeface="Calibri"/>
            </a:endParaRPr>
          </a:p>
          <a:p>
            <a:pPr marL="285750" indent="-285750" algn="ctr">
              <a:buFont typeface="Arial"/>
              <a:buChar char="•"/>
            </a:pPr>
            <a:endParaRPr lang="en-US">
              <a:solidFill>
                <a:schemeClr val="bg1"/>
              </a:solidFill>
              <a:ea typeface="Calibri"/>
              <a:cs typeface="Calibri"/>
            </a:endParaRPr>
          </a:p>
        </p:txBody>
      </p:sp>
      <p:sp>
        <p:nvSpPr>
          <p:cNvPr id="43" name="TextBox 42">
            <a:extLst>
              <a:ext uri="{FF2B5EF4-FFF2-40B4-BE49-F238E27FC236}">
                <a16:creationId xmlns:a16="http://schemas.microsoft.com/office/drawing/2014/main" id="{5DF3857B-B1F6-1354-7549-F1991A80FBF3}"/>
              </a:ext>
            </a:extLst>
          </p:cNvPr>
          <p:cNvSpPr txBox="1"/>
          <p:nvPr/>
        </p:nvSpPr>
        <p:spPr>
          <a:xfrm>
            <a:off x="5220730" y="8140013"/>
            <a:ext cx="517439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bg1"/>
                </a:solidFill>
              </a:rPr>
              <a:t>Analyzes coupling and cohesion between components </a:t>
            </a:r>
            <a:endParaRPr lang="en-US">
              <a:solidFill>
                <a:schemeClr val="bg1"/>
              </a:solidFill>
              <a:ea typeface="Calibri"/>
              <a:cs typeface="Calibri"/>
            </a:endParaRPr>
          </a:p>
          <a:p>
            <a:pPr marL="285750" indent="-285750">
              <a:buFont typeface="Arial"/>
              <a:buChar char="•"/>
            </a:pPr>
            <a:r>
              <a:rPr lang="en-US">
                <a:solidFill>
                  <a:schemeClr val="bg1"/>
                </a:solidFill>
              </a:rPr>
              <a:t>Generates 2 decomposition strategies: </a:t>
            </a:r>
            <a:endParaRPr lang="en-US">
              <a:solidFill>
                <a:schemeClr val="bg1"/>
              </a:solidFill>
              <a:ea typeface="Calibri"/>
              <a:cs typeface="Calibri"/>
            </a:endParaRPr>
          </a:p>
          <a:p>
            <a:pPr marL="742950" lvl="2" indent="-285750">
              <a:buFont typeface="Wingdings"/>
              <a:buChar char="§"/>
            </a:pPr>
            <a:r>
              <a:rPr lang="en-US">
                <a:solidFill>
                  <a:schemeClr val="bg1"/>
                </a:solidFill>
              </a:rPr>
              <a:t>Conservative </a:t>
            </a:r>
            <a:endParaRPr lang="en-US">
              <a:solidFill>
                <a:schemeClr val="bg1"/>
              </a:solidFill>
              <a:ea typeface="Calibri"/>
              <a:cs typeface="Calibri"/>
            </a:endParaRPr>
          </a:p>
          <a:p>
            <a:pPr marL="742950" lvl="2" indent="-285750">
              <a:buFont typeface="Wingdings"/>
              <a:buChar char="§"/>
            </a:pPr>
            <a:r>
              <a:rPr lang="en-US">
                <a:solidFill>
                  <a:schemeClr val="bg1"/>
                </a:solidFill>
              </a:rPr>
              <a:t>Aggressive </a:t>
            </a:r>
            <a:endParaRPr lang="en-US">
              <a:solidFill>
                <a:schemeClr val="bg1"/>
              </a:solidFill>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a:extLst>
            <a:ext uri="{FF2B5EF4-FFF2-40B4-BE49-F238E27FC236}">
              <a16:creationId xmlns:a16="http://schemas.microsoft.com/office/drawing/2014/main" id="{E9A34AFF-E521-A69E-7308-E1EE428F9519}"/>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456FE31F-BCA7-2076-187C-26F1A3DEDC24}"/>
              </a:ext>
            </a:extLst>
          </p:cNvPr>
          <p:cNvSpPr txBox="1"/>
          <p:nvPr/>
        </p:nvSpPr>
        <p:spPr>
          <a:xfrm>
            <a:off x="618392" y="98504"/>
            <a:ext cx="7599485" cy="2758576"/>
          </a:xfrm>
          <a:prstGeom prst="rect">
            <a:avLst/>
          </a:prstGeom>
        </p:spPr>
        <p:txBody>
          <a:bodyPr wrap="square" lIns="0" tIns="0" rIns="0" bIns="0" rtlCol="0" anchor="ctr">
            <a:spAutoFit/>
          </a:bodyPr>
          <a:lstStyle/>
          <a:p>
            <a:pPr algn="ctr">
              <a:lnSpc>
                <a:spcPts val="11468"/>
              </a:lnSpc>
            </a:pPr>
            <a:r>
              <a:rPr lang="en-US" sz="5400" b="1" spc="-573">
                <a:solidFill>
                  <a:srgbClr val="FFFFFF"/>
                </a:solidFill>
                <a:latin typeface="Open Sauce Heavy"/>
                <a:sym typeface="Open Sauce Heavy"/>
              </a:rPr>
              <a:t>Backend Data Flow Diagram</a:t>
            </a:r>
            <a:endParaRPr lang="en-US" sz="5400">
              <a:ea typeface="Calibri"/>
              <a:cs typeface="Calibri"/>
            </a:endParaRPr>
          </a:p>
        </p:txBody>
      </p:sp>
      <p:pic>
        <p:nvPicPr>
          <p:cNvPr id="7" name="Picture 6">
            <a:extLst>
              <a:ext uri="{FF2B5EF4-FFF2-40B4-BE49-F238E27FC236}">
                <a16:creationId xmlns:a16="http://schemas.microsoft.com/office/drawing/2014/main" id="{5E0C1BD3-16CF-AFA2-8DB8-FFAF301F51EA}"/>
              </a:ext>
            </a:extLst>
          </p:cNvPr>
          <p:cNvPicPr>
            <a:picLocks noChangeAspect="1"/>
          </p:cNvPicPr>
          <p:nvPr/>
        </p:nvPicPr>
        <p:blipFill>
          <a:blip r:embed="rId2"/>
          <a:stretch>
            <a:fillRect/>
          </a:stretch>
        </p:blipFill>
        <p:spPr>
          <a:xfrm>
            <a:off x="8974515" y="891993"/>
            <a:ext cx="8753475" cy="8420100"/>
          </a:xfrm>
          <a:prstGeom prst="rect">
            <a:avLst/>
          </a:prstGeom>
        </p:spPr>
      </p:pic>
    </p:spTree>
    <p:extLst>
      <p:ext uri="{BB962C8B-B14F-4D97-AF65-F5344CB8AC3E}">
        <p14:creationId xmlns:p14="http://schemas.microsoft.com/office/powerpoint/2010/main" val="2632255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p:cNvSpPr/>
          <p:nvPr/>
        </p:nvSpPr>
        <p:spPr>
          <a:xfrm rot="1925852">
            <a:off x="-2330235" y="2657262"/>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3">
              <a:alphaModFix amt="25000"/>
            </a:blip>
            <a:stretch>
              <a:fillRect/>
            </a:stretch>
          </a:blipFill>
        </p:spPr>
      </p:sp>
      <p:sp>
        <p:nvSpPr>
          <p:cNvPr id="5" name="Freeform 5"/>
          <p:cNvSpPr/>
          <p:nvPr/>
        </p:nvSpPr>
        <p:spPr>
          <a:xfrm>
            <a:off x="10343327" y="-1437860"/>
            <a:ext cx="12858845" cy="4933121"/>
          </a:xfrm>
          <a:custGeom>
            <a:avLst/>
            <a:gdLst/>
            <a:ahLst/>
            <a:cxnLst/>
            <a:rect l="l" t="t" r="r" b="b"/>
            <a:pathLst>
              <a:path w="12858845" h="4933121">
                <a:moveTo>
                  <a:pt x="0" y="0"/>
                </a:moveTo>
                <a:lnTo>
                  <a:pt x="12858845" y="0"/>
                </a:lnTo>
                <a:lnTo>
                  <a:pt x="12858845" y="4933120"/>
                </a:lnTo>
                <a:lnTo>
                  <a:pt x="0" y="4933120"/>
                </a:lnTo>
                <a:lnTo>
                  <a:pt x="0" y="0"/>
                </a:lnTo>
                <a:close/>
              </a:path>
            </a:pathLst>
          </a:custGeom>
          <a:blipFill>
            <a:blip r:embed="rId4">
              <a:alphaModFix amt="25000"/>
            </a:blip>
            <a:stretch>
              <a:fillRect/>
            </a:stretch>
          </a:blipFill>
        </p:spPr>
      </p:sp>
      <p:sp>
        <p:nvSpPr>
          <p:cNvPr id="26" name="TextBox 26"/>
          <p:cNvSpPr txBox="1"/>
          <p:nvPr/>
        </p:nvSpPr>
        <p:spPr>
          <a:xfrm>
            <a:off x="3534508" y="316643"/>
            <a:ext cx="11200881" cy="1312475"/>
          </a:xfrm>
          <a:prstGeom prst="rect">
            <a:avLst/>
          </a:prstGeom>
        </p:spPr>
        <p:txBody>
          <a:bodyPr wrap="square" lIns="0" tIns="0" rIns="0" bIns="0" rtlCol="0" anchor="ctr">
            <a:spAutoFit/>
          </a:bodyPr>
          <a:lstStyle/>
          <a:p>
            <a:pPr algn="ctr">
              <a:lnSpc>
                <a:spcPts val="11464"/>
              </a:lnSpc>
            </a:pPr>
            <a:r>
              <a:rPr lang="en-US" sz="6000" b="1" spc="-573">
                <a:solidFill>
                  <a:srgbClr val="424242"/>
                </a:solidFill>
                <a:latin typeface="Open Sauce Heavy"/>
                <a:sym typeface="Open Sauce Heavy"/>
              </a:rPr>
              <a:t>Results &amp; System Outputs</a:t>
            </a:r>
            <a:endParaRPr lang="en-US" sz="6000" b="1" spc="-573">
              <a:solidFill>
                <a:srgbClr val="424242"/>
              </a:solidFill>
              <a:latin typeface="Open Sauce Heavy"/>
            </a:endParaRPr>
          </a:p>
        </p:txBody>
      </p:sp>
      <p:sp>
        <p:nvSpPr>
          <p:cNvPr id="34" name="TextBox 33">
            <a:extLst>
              <a:ext uri="{FF2B5EF4-FFF2-40B4-BE49-F238E27FC236}">
                <a16:creationId xmlns:a16="http://schemas.microsoft.com/office/drawing/2014/main" id="{DD0FAD4C-AE7F-B77B-CB9B-7E1409971FE0}"/>
              </a:ext>
            </a:extLst>
          </p:cNvPr>
          <p:cNvSpPr txBox="1"/>
          <p:nvPr/>
        </p:nvSpPr>
        <p:spPr>
          <a:xfrm>
            <a:off x="952500" y="1817076"/>
            <a:ext cx="16382999"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b="1">
                <a:ea typeface="+mn-lt"/>
                <a:cs typeface="+mn-lt"/>
              </a:rPr>
              <a:t>Automated Monolith </a:t>
            </a:r>
            <a:r>
              <a:rPr lang="en-US" sz="2500" b="1" err="1">
                <a:ea typeface="+mn-lt"/>
                <a:cs typeface="+mn-lt"/>
              </a:rPr>
              <a:t>Decompilation</a:t>
            </a:r>
            <a:r>
              <a:rPr lang="en-US" sz="2500" b="1">
                <a:ea typeface="+mn-lt"/>
                <a:cs typeface="+mn-lt"/>
              </a:rPr>
              <a:t>:</a:t>
            </a:r>
            <a:r>
              <a:rPr lang="en-US" sz="2500">
                <a:ea typeface="+mn-lt"/>
                <a:cs typeface="+mn-lt"/>
              </a:rPr>
              <a:t> Successfully built a pipeline that ingests monolithic repositories and uses AI to accurately extract and map out modern microservice boundaries.</a:t>
            </a:r>
            <a:endParaRPr lang="en-US" sz="2500">
              <a:ea typeface="Calibri"/>
              <a:cs typeface="Calibri"/>
            </a:endParaRPr>
          </a:p>
          <a:p>
            <a:endParaRPr lang="en-US" sz="2500">
              <a:ea typeface="Calibri"/>
              <a:cs typeface="Calibri"/>
            </a:endParaRPr>
          </a:p>
          <a:p>
            <a:r>
              <a:rPr lang="en-US" sz="2500" b="1">
                <a:ea typeface="+mn-lt"/>
                <a:cs typeface="+mn-lt"/>
              </a:rPr>
              <a:t>Instant Infrastructure-as-Code (</a:t>
            </a:r>
            <a:r>
              <a:rPr lang="en-US" sz="2500" b="1" err="1">
                <a:ea typeface="+mn-lt"/>
                <a:cs typeface="+mn-lt"/>
              </a:rPr>
              <a:t>IaC</a:t>
            </a:r>
            <a:r>
              <a:rPr lang="en-US" sz="2500" b="1">
                <a:ea typeface="+mn-lt"/>
                <a:cs typeface="+mn-lt"/>
              </a:rPr>
              <a:t>):</a:t>
            </a:r>
            <a:r>
              <a:rPr lang="en-US" sz="2500">
                <a:ea typeface="+mn-lt"/>
                <a:cs typeface="+mn-lt"/>
              </a:rPr>
              <a:t> The system successfully generates and exports a production-ready .zip package containing custom Terraform modules, Kubernetes manifests, and </a:t>
            </a:r>
            <a:r>
              <a:rPr lang="en-US" sz="2500" err="1">
                <a:ea typeface="+mn-lt"/>
                <a:cs typeface="+mn-lt"/>
              </a:rPr>
              <a:t>Dockerfiles</a:t>
            </a:r>
            <a:r>
              <a:rPr lang="en-US" sz="2500">
                <a:ea typeface="+mn-lt"/>
                <a:cs typeface="+mn-lt"/>
              </a:rPr>
              <a:t>.</a:t>
            </a:r>
            <a:endParaRPr lang="en-US" sz="2500">
              <a:ea typeface="Calibri"/>
              <a:cs typeface="Calibri"/>
            </a:endParaRPr>
          </a:p>
          <a:p>
            <a:endParaRPr lang="en-US" sz="2500">
              <a:ea typeface="Calibri"/>
              <a:cs typeface="Calibri"/>
            </a:endParaRPr>
          </a:p>
          <a:p>
            <a:r>
              <a:rPr lang="en-US" sz="2500" b="1">
                <a:ea typeface="+mn-lt"/>
                <a:cs typeface="+mn-lt"/>
              </a:rPr>
              <a:t>Data-Driven Migration Dashboards:</a:t>
            </a:r>
            <a:r>
              <a:rPr lang="en-US" sz="2500">
                <a:ea typeface="+mn-lt"/>
                <a:cs typeface="+mn-lt"/>
              </a:rPr>
              <a:t> Engineered interactive UI dashboards that provide critical architectural metrics, including cost-performance estimates, organizational team mapping, and security compliance matrices.</a:t>
            </a:r>
          </a:p>
          <a:p>
            <a:endParaRPr lang="en-US" sz="2500">
              <a:ea typeface="Calibri"/>
              <a:cs typeface="Calibri"/>
            </a:endParaRPr>
          </a:p>
          <a:p>
            <a:r>
              <a:rPr lang="en-US" sz="2500" b="1">
                <a:ea typeface="+mn-lt"/>
                <a:cs typeface="+mn-lt"/>
              </a:rPr>
              <a:t>Comprehensive Output Package:</a:t>
            </a:r>
            <a:r>
              <a:rPr lang="en-US" sz="2500">
                <a:ea typeface="+mn-lt"/>
                <a:cs typeface="+mn-lt"/>
              </a:rPr>
              <a:t> The generated .zip archive provides everything needed to deploy the new architecture, including isolated </a:t>
            </a:r>
            <a:r>
              <a:rPr lang="en-US" sz="2500" err="1">
                <a:ea typeface="+mn-lt"/>
                <a:cs typeface="+mn-lt"/>
              </a:rPr>
              <a:t>Dockerfiles</a:t>
            </a:r>
            <a:r>
              <a:rPr lang="en-US" sz="2500">
                <a:ea typeface="+mn-lt"/>
                <a:cs typeface="+mn-lt"/>
              </a:rPr>
              <a:t> and Kubernetes manifests for each microservice, centralized API Gateway routes, </a:t>
            </a:r>
            <a:r>
              <a:rPr lang="en-US" sz="2500" err="1">
                <a:ea typeface="+mn-lt"/>
                <a:cs typeface="+mn-lt"/>
              </a:rPr>
              <a:t>OpenAPI</a:t>
            </a:r>
            <a:r>
              <a:rPr lang="en-US" sz="2500">
                <a:ea typeface="+mn-lt"/>
                <a:cs typeface="+mn-lt"/>
              </a:rPr>
              <a:t> contracts, and detailed Architecture Decision Records (ADRs) documenting the extraction strategy.</a:t>
            </a:r>
            <a:endParaRPr lang="en-US"/>
          </a:p>
        </p:txBody>
      </p:sp>
      <p:sp>
        <p:nvSpPr>
          <p:cNvPr id="35" name="TextBox 34">
            <a:extLst>
              <a:ext uri="{FF2B5EF4-FFF2-40B4-BE49-F238E27FC236}">
                <a16:creationId xmlns:a16="http://schemas.microsoft.com/office/drawing/2014/main" id="{FAB8BB51-9DBC-07B1-78BC-C673196F6166}"/>
              </a:ext>
            </a:extLst>
          </p:cNvPr>
          <p:cNvSpPr txBox="1"/>
          <p:nvPr/>
        </p:nvSpPr>
        <p:spPr>
          <a:xfrm>
            <a:off x="952499" y="6960576"/>
            <a:ext cx="16382999"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b="1" err="1">
                <a:ea typeface="+mn-lt"/>
                <a:cs typeface="+mn-lt"/>
              </a:rPr>
              <a:t>Github</a:t>
            </a:r>
            <a:r>
              <a:rPr lang="en-US" sz="2500" b="1">
                <a:ea typeface="+mn-lt"/>
                <a:cs typeface="+mn-lt"/>
              </a:rPr>
              <a:t> :</a:t>
            </a:r>
            <a:r>
              <a:rPr lang="en-US" sz="2500">
                <a:ea typeface="+mn-lt"/>
                <a:cs typeface="+mn-lt"/>
              </a:rPr>
              <a:t> </a:t>
            </a:r>
            <a:r>
              <a:rPr lang="en-US" sz="2500">
                <a:ea typeface="+mn-lt"/>
                <a:cs typeface="+mn-lt"/>
                <a:hlinkClick r:id="rId5"/>
              </a:rPr>
              <a:t>MonoMELT</a:t>
            </a:r>
            <a:endParaRPr lang="en-US" sz="2500">
              <a:ea typeface="Calibri"/>
              <a:cs typeface="Calibri"/>
            </a:endParaRPr>
          </a:p>
          <a:p>
            <a:endParaRPr lang="en-US" sz="2500">
              <a:ea typeface="Calibri"/>
              <a:cs typeface="Calibri"/>
            </a:endParaRPr>
          </a:p>
          <a:p>
            <a:r>
              <a:rPr lang="en-US" sz="2500" b="1">
                <a:ea typeface="+mn-lt"/>
                <a:cs typeface="+mn-lt"/>
              </a:rPr>
              <a:t>Step Wise Outputs :</a:t>
            </a:r>
            <a:r>
              <a:rPr lang="en-US" sz="2500">
                <a:ea typeface="+mn-lt"/>
                <a:cs typeface="+mn-lt"/>
              </a:rPr>
              <a:t> </a:t>
            </a:r>
            <a:r>
              <a:rPr lang="en-US" sz="2500">
                <a:ea typeface="+mn-lt"/>
                <a:cs typeface="+mn-lt"/>
                <a:hlinkClick r:id="rId6"/>
              </a:rPr>
              <a:t>Images</a:t>
            </a:r>
          </a:p>
          <a:p>
            <a:endParaRPr lang="en-US" sz="2500">
              <a:ea typeface="Calibri"/>
              <a:cs typeface="Calibri"/>
            </a:endParaRPr>
          </a:p>
          <a:p>
            <a:r>
              <a:rPr lang="en-US" sz="2500" b="1">
                <a:ea typeface="Calibri"/>
                <a:cs typeface="Calibri"/>
              </a:rPr>
              <a:t>Microservice Zip File :</a:t>
            </a:r>
            <a:r>
              <a:rPr lang="en-US" sz="2500">
                <a:ea typeface="Calibri"/>
                <a:cs typeface="Calibri"/>
              </a:rPr>
              <a:t> </a:t>
            </a:r>
            <a:r>
              <a:rPr lang="en-US" sz="2500">
                <a:ea typeface="Calibri"/>
                <a:cs typeface="Calibri"/>
                <a:hlinkClick r:id="rId7"/>
              </a:rPr>
              <a:t>Microservice Zip</a:t>
            </a:r>
          </a:p>
          <a:p>
            <a:endParaRPr lang="en-US" sz="2500">
              <a:ea typeface="Calibri"/>
              <a:cs typeface="Calibri"/>
            </a:endParaRPr>
          </a:p>
          <a:p>
            <a:r>
              <a:rPr lang="en-US" sz="2500" b="1">
                <a:ea typeface="Calibri"/>
                <a:cs typeface="Calibri"/>
              </a:rPr>
              <a:t>Original Repo URL :</a:t>
            </a:r>
            <a:r>
              <a:rPr lang="en-US" sz="2500">
                <a:ea typeface="Calibri"/>
                <a:cs typeface="Calibri"/>
              </a:rPr>
              <a:t> </a:t>
            </a:r>
            <a:r>
              <a:rPr lang="en-US" sz="2500">
                <a:ea typeface="Calibri"/>
                <a:cs typeface="Calibri"/>
                <a:hlinkClick r:id="rId8"/>
              </a:rPr>
              <a:t>Original </a:t>
            </a:r>
            <a:endParaRPr lang="en-US" sz="2500">
              <a:ea typeface="Calibri"/>
              <a:cs typeface="Calibri"/>
            </a:endParaRPr>
          </a:p>
          <a:p>
            <a:endParaRPr lang="en-US" sz="2500">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a:extLst>
            <a:ext uri="{FF2B5EF4-FFF2-40B4-BE49-F238E27FC236}">
              <a16:creationId xmlns:a16="http://schemas.microsoft.com/office/drawing/2014/main" id="{D72046DE-BFBA-14DD-C1A9-40FF823B61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C7796EB-30AC-91FD-2D80-85474EB94C78}"/>
              </a:ext>
            </a:extLst>
          </p:cNvPr>
          <p:cNvSpPr/>
          <p:nvPr/>
        </p:nvSpPr>
        <p:spPr>
          <a:xfrm rot="-713623">
            <a:off x="6346841" y="-1712143"/>
            <a:ext cx="14118808" cy="9138719"/>
          </a:xfrm>
          <a:custGeom>
            <a:avLst/>
            <a:gdLst/>
            <a:ahLst/>
            <a:cxnLst/>
            <a:rect l="l" t="t" r="r" b="b"/>
            <a:pathLst>
              <a:path w="14118808" h="9138719">
                <a:moveTo>
                  <a:pt x="0" y="0"/>
                </a:moveTo>
                <a:lnTo>
                  <a:pt x="14118808" y="0"/>
                </a:lnTo>
                <a:lnTo>
                  <a:pt x="14118808" y="9138719"/>
                </a:lnTo>
                <a:lnTo>
                  <a:pt x="0" y="9138719"/>
                </a:lnTo>
                <a:lnTo>
                  <a:pt x="0" y="0"/>
                </a:lnTo>
                <a:close/>
              </a:path>
            </a:pathLst>
          </a:custGeom>
          <a:blipFill>
            <a:blip r:embed="rId2">
              <a:alphaModFix amt="20999"/>
            </a:blip>
            <a:stretch>
              <a:fillRect/>
            </a:stretch>
          </a:blipFill>
        </p:spPr>
      </p:sp>
      <p:grpSp>
        <p:nvGrpSpPr>
          <p:cNvPr id="3" name="Group 3">
            <a:extLst>
              <a:ext uri="{FF2B5EF4-FFF2-40B4-BE49-F238E27FC236}">
                <a16:creationId xmlns:a16="http://schemas.microsoft.com/office/drawing/2014/main" id="{047A10AA-BB39-553A-AA4D-DDCFCD5C4F54}"/>
              </a:ext>
            </a:extLst>
          </p:cNvPr>
          <p:cNvGrpSpPr/>
          <p:nvPr/>
        </p:nvGrpSpPr>
        <p:grpSpPr>
          <a:xfrm>
            <a:off x="483328" y="1287680"/>
            <a:ext cx="17375182" cy="8630922"/>
            <a:chOff x="0" y="0"/>
            <a:chExt cx="2109992" cy="1578464"/>
          </a:xfrm>
        </p:grpSpPr>
        <p:sp>
          <p:nvSpPr>
            <p:cNvPr id="4" name="Freeform 4">
              <a:extLst>
                <a:ext uri="{FF2B5EF4-FFF2-40B4-BE49-F238E27FC236}">
                  <a16:creationId xmlns:a16="http://schemas.microsoft.com/office/drawing/2014/main" id="{C33EDF95-A8E3-1FB8-9118-41643C38F4D4}"/>
                </a:ext>
              </a:extLst>
            </p:cNvPr>
            <p:cNvSpPr/>
            <p:nvPr/>
          </p:nvSpPr>
          <p:spPr>
            <a:xfrm>
              <a:off x="0" y="0"/>
              <a:ext cx="2109992" cy="1578464"/>
            </a:xfrm>
            <a:custGeom>
              <a:avLst/>
              <a:gdLst/>
              <a:ahLst/>
              <a:cxnLst/>
              <a:rect l="l" t="t" r="r" b="b"/>
              <a:pathLst>
                <a:path w="2109992" h="1578464">
                  <a:moveTo>
                    <a:pt x="77309" y="0"/>
                  </a:moveTo>
                  <a:lnTo>
                    <a:pt x="2032683" y="0"/>
                  </a:lnTo>
                  <a:cubicBezTo>
                    <a:pt x="2053186" y="0"/>
                    <a:pt x="2072850" y="8145"/>
                    <a:pt x="2087349" y="22643"/>
                  </a:cubicBezTo>
                  <a:cubicBezTo>
                    <a:pt x="2101847" y="37142"/>
                    <a:pt x="2109992" y="56806"/>
                    <a:pt x="2109992" y="77309"/>
                  </a:cubicBezTo>
                  <a:lnTo>
                    <a:pt x="2109992" y="1501155"/>
                  </a:lnTo>
                  <a:cubicBezTo>
                    <a:pt x="2109992" y="1521659"/>
                    <a:pt x="2101847" y="1541322"/>
                    <a:pt x="2087349" y="1555821"/>
                  </a:cubicBezTo>
                  <a:cubicBezTo>
                    <a:pt x="2072850" y="1570319"/>
                    <a:pt x="2053186" y="1578464"/>
                    <a:pt x="2032683" y="1578464"/>
                  </a:cubicBezTo>
                  <a:lnTo>
                    <a:pt x="77309" y="1578464"/>
                  </a:lnTo>
                  <a:cubicBezTo>
                    <a:pt x="56806" y="1578464"/>
                    <a:pt x="37142" y="1570319"/>
                    <a:pt x="22643" y="1555821"/>
                  </a:cubicBezTo>
                  <a:cubicBezTo>
                    <a:pt x="8145" y="1541322"/>
                    <a:pt x="0" y="1521659"/>
                    <a:pt x="0" y="1501155"/>
                  </a:cubicBezTo>
                  <a:lnTo>
                    <a:pt x="0" y="77309"/>
                  </a:lnTo>
                  <a:cubicBezTo>
                    <a:pt x="0" y="56806"/>
                    <a:pt x="8145" y="37142"/>
                    <a:pt x="22643" y="22643"/>
                  </a:cubicBezTo>
                  <a:cubicBezTo>
                    <a:pt x="37142" y="8145"/>
                    <a:pt x="56806" y="0"/>
                    <a:pt x="77309" y="0"/>
                  </a:cubicBezTo>
                  <a:close/>
                </a:path>
              </a:pathLst>
            </a:custGeom>
            <a:solidFill>
              <a:srgbClr val="424242"/>
            </a:solidFill>
            <a:ln w="19050" cap="rnd">
              <a:solidFill>
                <a:srgbClr val="D0D7DD"/>
              </a:solidFill>
              <a:prstDash val="solid"/>
              <a:round/>
            </a:ln>
          </p:spPr>
        </p:sp>
        <p:sp>
          <p:nvSpPr>
            <p:cNvPr id="5" name="TextBox 5">
              <a:extLst>
                <a:ext uri="{FF2B5EF4-FFF2-40B4-BE49-F238E27FC236}">
                  <a16:creationId xmlns:a16="http://schemas.microsoft.com/office/drawing/2014/main" id="{7B3B0B66-238E-FFDD-91E4-D2E207CE9DCA}"/>
                </a:ext>
              </a:extLst>
            </p:cNvPr>
            <p:cNvSpPr txBox="1"/>
            <p:nvPr/>
          </p:nvSpPr>
          <p:spPr>
            <a:xfrm>
              <a:off x="0" y="-28575"/>
              <a:ext cx="2109992" cy="1607039"/>
            </a:xfrm>
            <a:prstGeom prst="rect">
              <a:avLst/>
            </a:prstGeom>
          </p:spPr>
          <p:txBody>
            <a:bodyPr lIns="50800" tIns="50800" rIns="50800" bIns="50800" rtlCol="0" anchor="ctr"/>
            <a:lstStyle/>
            <a:p>
              <a:pPr algn="ctr">
                <a:lnSpc>
                  <a:spcPts val="2015"/>
                </a:lnSpc>
              </a:pPr>
              <a:endParaRPr/>
            </a:p>
          </p:txBody>
        </p:sp>
      </p:grpSp>
      <p:sp>
        <p:nvSpPr>
          <p:cNvPr id="7" name="TextBox 6">
            <a:extLst>
              <a:ext uri="{FF2B5EF4-FFF2-40B4-BE49-F238E27FC236}">
                <a16:creationId xmlns:a16="http://schemas.microsoft.com/office/drawing/2014/main" id="{BFEA5B37-0E89-46AF-0968-179EB3BD07A9}"/>
              </a:ext>
            </a:extLst>
          </p:cNvPr>
          <p:cNvSpPr txBox="1"/>
          <p:nvPr/>
        </p:nvSpPr>
        <p:spPr>
          <a:xfrm>
            <a:off x="747345" y="1597268"/>
            <a:ext cx="16881231" cy="81714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a:solidFill>
                  <a:schemeClr val="bg1"/>
                </a:solidFill>
                <a:ea typeface="+mn-lt"/>
                <a:cs typeface="+mn-lt"/>
              </a:rPr>
              <a:t>1. </a:t>
            </a:r>
            <a:r>
              <a:rPr lang="en-US" sz="2500" b="1">
                <a:solidFill>
                  <a:schemeClr val="bg1"/>
                </a:solidFill>
                <a:ea typeface="+mn-lt"/>
                <a:cs typeface="+mn-lt"/>
              </a:rPr>
              <a:t>Amazon S3 (Simple Storage Service):</a:t>
            </a:r>
            <a:r>
              <a:rPr lang="en-US" sz="2500">
                <a:solidFill>
                  <a:schemeClr val="bg1"/>
                </a:solidFill>
                <a:ea typeface="+mn-lt"/>
                <a:cs typeface="+mn-lt"/>
              </a:rPr>
              <a:t> Acts as the primary data lake. It stores the massive, raw .zip uploads of monolithic codebases from the user, as well as the unzipped, extracted files ready for processing.</a:t>
            </a:r>
            <a:endParaRPr lang="en-US" sz="2500">
              <a:solidFill>
                <a:schemeClr val="bg1"/>
              </a:solidFill>
              <a:ea typeface="Calibri"/>
              <a:cs typeface="Calibri"/>
            </a:endParaRPr>
          </a:p>
          <a:p>
            <a:endParaRPr lang="en-US" sz="2500">
              <a:ea typeface="Calibri"/>
              <a:cs typeface="Calibri"/>
            </a:endParaRPr>
          </a:p>
          <a:p>
            <a:r>
              <a:rPr lang="en-US" sz="2500">
                <a:solidFill>
                  <a:schemeClr val="bg1"/>
                </a:solidFill>
                <a:ea typeface="+mn-lt"/>
                <a:cs typeface="+mn-lt"/>
              </a:rPr>
              <a:t>2. </a:t>
            </a:r>
            <a:r>
              <a:rPr lang="en-US" sz="2500" b="1">
                <a:solidFill>
                  <a:schemeClr val="bg1"/>
                </a:solidFill>
                <a:ea typeface="+mn-lt"/>
                <a:cs typeface="+mn-lt"/>
              </a:rPr>
              <a:t>Amazon SQS (Simple Queue Service):</a:t>
            </a:r>
            <a:r>
              <a:rPr lang="en-US" sz="2500">
                <a:solidFill>
                  <a:schemeClr val="bg1"/>
                </a:solidFill>
                <a:ea typeface="+mn-lt"/>
                <a:cs typeface="+mn-lt"/>
              </a:rPr>
              <a:t> Replaces Redis/</a:t>
            </a:r>
            <a:r>
              <a:rPr lang="en-US" sz="2500" err="1">
                <a:solidFill>
                  <a:schemeClr val="bg1"/>
                </a:solidFill>
                <a:ea typeface="+mn-lt"/>
                <a:cs typeface="+mn-lt"/>
              </a:rPr>
              <a:t>BullMQ</a:t>
            </a:r>
            <a:r>
              <a:rPr lang="en-US" sz="2500">
                <a:solidFill>
                  <a:schemeClr val="bg1"/>
                </a:solidFill>
                <a:ea typeface="+mn-lt"/>
                <a:cs typeface="+mn-lt"/>
              </a:rPr>
              <a:t>. When a massive codebase is uploaded to S3, the API Gateway sends a message to SQS. This guarantees that heavy, asynchronous repository parsing jobs are queued and processed reliably without crashing the main server.</a:t>
            </a:r>
            <a:endParaRPr lang="en-US" sz="2500">
              <a:solidFill>
                <a:schemeClr val="bg1"/>
              </a:solidFill>
              <a:ea typeface="Calibri"/>
              <a:cs typeface="Calibri"/>
            </a:endParaRPr>
          </a:p>
          <a:p>
            <a:endParaRPr lang="en-US" sz="2500">
              <a:ea typeface="Calibri"/>
              <a:cs typeface="Calibri"/>
            </a:endParaRPr>
          </a:p>
          <a:p>
            <a:r>
              <a:rPr lang="en-US" sz="2500">
                <a:solidFill>
                  <a:schemeClr val="bg1"/>
                </a:solidFill>
                <a:ea typeface="+mn-lt"/>
                <a:cs typeface="+mn-lt"/>
              </a:rPr>
              <a:t>3. </a:t>
            </a:r>
            <a:r>
              <a:rPr lang="en-US" sz="2500" b="1">
                <a:solidFill>
                  <a:schemeClr val="bg1"/>
                </a:solidFill>
                <a:ea typeface="+mn-lt"/>
                <a:cs typeface="+mn-lt"/>
              </a:rPr>
              <a:t>AWS Lambda:</a:t>
            </a:r>
            <a:r>
              <a:rPr lang="en-US" sz="2500">
                <a:solidFill>
                  <a:schemeClr val="bg1"/>
                </a:solidFill>
                <a:ea typeface="+mn-lt"/>
                <a:cs typeface="+mn-lt"/>
              </a:rPr>
              <a:t> Triggered directly by SQS messages. Serverless Lambda functions wake up, pull the codebase from S3, run the heavy Abstract Syntax Tree (AST) parsing to map out the monolith, and then spin back down—saving compute costs.</a:t>
            </a:r>
            <a:endParaRPr lang="en-US" sz="2500">
              <a:solidFill>
                <a:schemeClr val="bg1"/>
              </a:solidFill>
              <a:ea typeface="Calibri"/>
              <a:cs typeface="Calibri"/>
            </a:endParaRPr>
          </a:p>
          <a:p>
            <a:endParaRPr lang="en-US" sz="2500">
              <a:ea typeface="Calibri"/>
              <a:cs typeface="Calibri"/>
            </a:endParaRPr>
          </a:p>
          <a:p>
            <a:r>
              <a:rPr lang="en-US" sz="2500">
                <a:solidFill>
                  <a:schemeClr val="bg1"/>
                </a:solidFill>
                <a:ea typeface="+mn-lt"/>
                <a:cs typeface="+mn-lt"/>
              </a:rPr>
              <a:t>4. </a:t>
            </a:r>
            <a:r>
              <a:rPr lang="en-US" sz="2500" b="1">
                <a:solidFill>
                  <a:schemeClr val="bg1"/>
                </a:solidFill>
                <a:ea typeface="+mn-lt"/>
                <a:cs typeface="+mn-lt"/>
              </a:rPr>
              <a:t>Amazon EKS (Elastic Kubernetes Service):</a:t>
            </a:r>
            <a:r>
              <a:rPr lang="en-US" sz="2500">
                <a:solidFill>
                  <a:schemeClr val="bg1"/>
                </a:solidFill>
                <a:ea typeface="+mn-lt"/>
                <a:cs typeface="+mn-lt"/>
              </a:rPr>
              <a:t> The ultimate destination for </a:t>
            </a:r>
            <a:r>
              <a:rPr lang="en-US" sz="2500" err="1">
                <a:solidFill>
                  <a:schemeClr val="bg1"/>
                </a:solidFill>
                <a:ea typeface="+mn-lt"/>
                <a:cs typeface="+mn-lt"/>
              </a:rPr>
              <a:t>MonoMelt's</a:t>
            </a:r>
            <a:r>
              <a:rPr lang="en-US" sz="2500">
                <a:solidFill>
                  <a:schemeClr val="bg1"/>
                </a:solidFill>
                <a:ea typeface="+mn-lt"/>
                <a:cs typeface="+mn-lt"/>
              </a:rPr>
              <a:t> output. Because </a:t>
            </a:r>
            <a:r>
              <a:rPr lang="en-US" sz="2500" err="1">
                <a:solidFill>
                  <a:schemeClr val="bg1"/>
                </a:solidFill>
                <a:ea typeface="+mn-lt"/>
                <a:cs typeface="+mn-lt"/>
              </a:rPr>
              <a:t>MonoMelt</a:t>
            </a:r>
            <a:r>
              <a:rPr lang="en-US" sz="2500">
                <a:solidFill>
                  <a:schemeClr val="bg1"/>
                </a:solidFill>
                <a:ea typeface="+mn-lt"/>
                <a:cs typeface="+mn-lt"/>
              </a:rPr>
              <a:t> automatically generates Kubernetes deployment manifests (</a:t>
            </a:r>
            <a:r>
              <a:rPr lang="en-US" sz="2500" err="1">
                <a:solidFill>
                  <a:schemeClr val="bg1"/>
                </a:solidFill>
                <a:ea typeface="+mn-lt"/>
                <a:cs typeface="+mn-lt"/>
              </a:rPr>
              <a:t>deployment.yaml</a:t>
            </a:r>
            <a:r>
              <a:rPr lang="en-US" sz="2500">
                <a:solidFill>
                  <a:schemeClr val="bg1"/>
                </a:solidFill>
                <a:ea typeface="+mn-lt"/>
                <a:cs typeface="+mn-lt"/>
              </a:rPr>
              <a:t>, </a:t>
            </a:r>
            <a:r>
              <a:rPr lang="en-US" sz="2500" err="1">
                <a:solidFill>
                  <a:schemeClr val="bg1"/>
                </a:solidFill>
                <a:ea typeface="+mn-lt"/>
                <a:cs typeface="+mn-lt"/>
              </a:rPr>
              <a:t>service.yaml</a:t>
            </a:r>
            <a:r>
              <a:rPr lang="en-US" sz="2500">
                <a:solidFill>
                  <a:schemeClr val="bg1"/>
                </a:solidFill>
                <a:ea typeface="+mn-lt"/>
                <a:cs typeface="+mn-lt"/>
              </a:rPr>
              <a:t>) for the new microservices, EKS is the exact AWS service where those microservices will run in production.</a:t>
            </a:r>
            <a:endParaRPr lang="en-US" sz="2500">
              <a:solidFill>
                <a:schemeClr val="bg1"/>
              </a:solidFill>
              <a:ea typeface="Calibri"/>
              <a:cs typeface="Calibri"/>
            </a:endParaRPr>
          </a:p>
          <a:p>
            <a:endParaRPr lang="en-US" sz="2500">
              <a:ea typeface="Calibri"/>
              <a:cs typeface="Calibri"/>
            </a:endParaRPr>
          </a:p>
          <a:p>
            <a:r>
              <a:rPr lang="en-US" sz="2500">
                <a:solidFill>
                  <a:schemeClr val="bg1"/>
                </a:solidFill>
                <a:ea typeface="+mn-lt"/>
                <a:cs typeface="+mn-lt"/>
              </a:rPr>
              <a:t>5. </a:t>
            </a:r>
            <a:r>
              <a:rPr lang="en-US" sz="2500" b="1">
                <a:solidFill>
                  <a:schemeClr val="bg1"/>
                </a:solidFill>
                <a:ea typeface="+mn-lt"/>
                <a:cs typeface="+mn-lt"/>
              </a:rPr>
              <a:t>Amazon ECR (Elastic Container Registry):</a:t>
            </a:r>
            <a:r>
              <a:rPr lang="en-US" sz="2500">
                <a:solidFill>
                  <a:schemeClr val="bg1"/>
                </a:solidFill>
                <a:ea typeface="+mn-lt"/>
                <a:cs typeface="+mn-lt"/>
              </a:rPr>
              <a:t> </a:t>
            </a:r>
            <a:r>
              <a:rPr lang="en-US" sz="2500" err="1">
                <a:solidFill>
                  <a:schemeClr val="bg1"/>
                </a:solidFill>
                <a:ea typeface="+mn-lt"/>
                <a:cs typeface="+mn-lt"/>
              </a:rPr>
              <a:t>MonoMelt</a:t>
            </a:r>
            <a:r>
              <a:rPr lang="en-US" sz="2500">
                <a:solidFill>
                  <a:schemeClr val="bg1"/>
                </a:solidFill>
                <a:ea typeface="+mn-lt"/>
                <a:cs typeface="+mn-lt"/>
              </a:rPr>
              <a:t> writes custom </a:t>
            </a:r>
            <a:r>
              <a:rPr lang="en-US" sz="2500" err="1">
                <a:solidFill>
                  <a:schemeClr val="bg1"/>
                </a:solidFill>
                <a:ea typeface="+mn-lt"/>
                <a:cs typeface="+mn-lt"/>
              </a:rPr>
              <a:t>Dockerfiles</a:t>
            </a:r>
            <a:r>
              <a:rPr lang="en-US" sz="2500">
                <a:solidFill>
                  <a:schemeClr val="bg1"/>
                </a:solidFill>
                <a:ea typeface="+mn-lt"/>
                <a:cs typeface="+mn-lt"/>
              </a:rPr>
              <a:t> for every extracted service. ECR is the AWS service used in your CI/CD pipeline to securely store and scan those built Docker container images before they are pushed live to EKS.</a:t>
            </a:r>
          </a:p>
          <a:p>
            <a:endParaRPr lang="en-US" sz="2500">
              <a:solidFill>
                <a:schemeClr val="bg1"/>
              </a:solidFill>
              <a:ea typeface="Calibri"/>
              <a:cs typeface="Calibri"/>
            </a:endParaRPr>
          </a:p>
          <a:p>
            <a:r>
              <a:rPr lang="en-US" sz="2500">
                <a:solidFill>
                  <a:schemeClr val="bg1"/>
                </a:solidFill>
                <a:ea typeface="Calibri"/>
                <a:cs typeface="Calibri"/>
              </a:rPr>
              <a:t>6. </a:t>
            </a:r>
            <a:r>
              <a:rPr lang="en-US" sz="2500" b="1">
                <a:solidFill>
                  <a:schemeClr val="bg1"/>
                </a:solidFill>
                <a:ea typeface="Calibri"/>
                <a:cs typeface="Calibri"/>
              </a:rPr>
              <a:t>Amazon Neptune (Graph Database):</a:t>
            </a:r>
            <a:r>
              <a:rPr lang="en-US" sz="2500">
                <a:solidFill>
                  <a:schemeClr val="bg1"/>
                </a:solidFill>
                <a:ea typeface="Calibri"/>
                <a:cs typeface="Calibri"/>
              </a:rPr>
              <a:t> Replaces Neo4j. As Lambda parses the codebase, it stores the complex web of classes, functions, and database dependencies directly into Neptune. This is AWS’s purpose-built graph database, perfect for querying monolithic architectures.</a:t>
            </a:r>
          </a:p>
        </p:txBody>
      </p:sp>
      <p:sp>
        <p:nvSpPr>
          <p:cNvPr id="10" name="TextBox 6">
            <a:extLst>
              <a:ext uri="{FF2B5EF4-FFF2-40B4-BE49-F238E27FC236}">
                <a16:creationId xmlns:a16="http://schemas.microsoft.com/office/drawing/2014/main" id="{BF528091-D5F7-996F-91A2-09BADBCFB33F}"/>
              </a:ext>
            </a:extLst>
          </p:cNvPr>
          <p:cNvSpPr txBox="1"/>
          <p:nvPr/>
        </p:nvSpPr>
        <p:spPr>
          <a:xfrm>
            <a:off x="1058008" y="5362"/>
            <a:ext cx="16230600" cy="1287147"/>
          </a:xfrm>
          <a:prstGeom prst="rect">
            <a:avLst/>
          </a:prstGeom>
        </p:spPr>
        <p:txBody>
          <a:bodyPr lIns="0" tIns="0" rIns="0" bIns="0" rtlCol="0" anchor="t">
            <a:spAutoFit/>
          </a:bodyPr>
          <a:lstStyle/>
          <a:p>
            <a:pPr algn="ctr">
              <a:lnSpc>
                <a:spcPts val="11468"/>
              </a:lnSpc>
            </a:pPr>
            <a:r>
              <a:rPr lang="en-US" sz="5000" b="1" spc="-573">
                <a:solidFill>
                  <a:srgbClr val="FFFFFF"/>
                </a:solidFill>
                <a:latin typeface="Open Sauce Heavy"/>
                <a:sym typeface="Open Sauce Heavy"/>
              </a:rPr>
              <a:t>Enterprise Cloud Architecture</a:t>
            </a:r>
            <a:r>
              <a:rPr lang="en-US" sz="5500" b="1" spc="-573">
                <a:solidFill>
                  <a:srgbClr val="FFFFFF"/>
                </a:solidFill>
                <a:latin typeface="Open Sauce Heavy"/>
                <a:sym typeface="Open Sauce Heavy"/>
              </a:rPr>
              <a:t> </a:t>
            </a:r>
            <a:r>
              <a:rPr lang="en-US" sz="4500" b="1" spc="-573">
                <a:solidFill>
                  <a:srgbClr val="FFFFFF"/>
                </a:solidFill>
                <a:latin typeface="Open Sauce Heavy"/>
                <a:sym typeface="Open Sauce Heavy"/>
              </a:rPr>
              <a:t>(AWS Integration)</a:t>
            </a:r>
            <a:endParaRPr lang="en-US" sz="4500">
              <a:ea typeface="Calibri"/>
              <a:cs typeface="Calibri"/>
            </a:endParaRPr>
          </a:p>
        </p:txBody>
      </p:sp>
    </p:spTree>
    <p:extLst>
      <p:ext uri="{BB962C8B-B14F-4D97-AF65-F5344CB8AC3E}">
        <p14:creationId xmlns:p14="http://schemas.microsoft.com/office/powerpoint/2010/main" val="3888582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a:extLst>
            <a:ext uri="{FF2B5EF4-FFF2-40B4-BE49-F238E27FC236}">
              <a16:creationId xmlns:a16="http://schemas.microsoft.com/office/drawing/2014/main" id="{A396C3FF-8153-1157-0274-C29ED7A3D46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7C2B5D3-D5EB-4211-49BB-0D1FE33E43C3}"/>
              </a:ext>
            </a:extLst>
          </p:cNvPr>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825BDA25-9057-C948-E592-A27C38DC883D}"/>
              </a:ext>
            </a:extLst>
          </p:cNvPr>
          <p:cNvSpPr/>
          <p:nvPr/>
        </p:nvSpPr>
        <p:spPr>
          <a:xfrm rot="1925852">
            <a:off x="-2330235" y="2657262"/>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3">
              <a:alphaModFix amt="25000"/>
            </a:blip>
            <a:stretch>
              <a:fillRect/>
            </a:stretch>
          </a:blipFill>
        </p:spPr>
      </p:sp>
      <p:sp>
        <p:nvSpPr>
          <p:cNvPr id="5" name="Freeform 5">
            <a:extLst>
              <a:ext uri="{FF2B5EF4-FFF2-40B4-BE49-F238E27FC236}">
                <a16:creationId xmlns:a16="http://schemas.microsoft.com/office/drawing/2014/main" id="{190D7EC7-EC16-75E1-562A-698464ABA377}"/>
              </a:ext>
            </a:extLst>
          </p:cNvPr>
          <p:cNvSpPr/>
          <p:nvPr/>
        </p:nvSpPr>
        <p:spPr>
          <a:xfrm>
            <a:off x="10343327" y="-1437860"/>
            <a:ext cx="12858845" cy="4933121"/>
          </a:xfrm>
          <a:custGeom>
            <a:avLst/>
            <a:gdLst/>
            <a:ahLst/>
            <a:cxnLst/>
            <a:rect l="l" t="t" r="r" b="b"/>
            <a:pathLst>
              <a:path w="12858845" h="4933121">
                <a:moveTo>
                  <a:pt x="0" y="0"/>
                </a:moveTo>
                <a:lnTo>
                  <a:pt x="12858845" y="0"/>
                </a:lnTo>
                <a:lnTo>
                  <a:pt x="12858845" y="4933120"/>
                </a:lnTo>
                <a:lnTo>
                  <a:pt x="0" y="4933120"/>
                </a:lnTo>
                <a:lnTo>
                  <a:pt x="0" y="0"/>
                </a:lnTo>
                <a:close/>
              </a:path>
            </a:pathLst>
          </a:custGeom>
          <a:blipFill>
            <a:blip r:embed="rId4">
              <a:alphaModFix amt="25000"/>
            </a:blip>
            <a:stretch>
              <a:fillRect/>
            </a:stretch>
          </a:blipFill>
        </p:spPr>
      </p:sp>
      <p:sp>
        <p:nvSpPr>
          <p:cNvPr id="26" name="TextBox 26">
            <a:extLst>
              <a:ext uri="{FF2B5EF4-FFF2-40B4-BE49-F238E27FC236}">
                <a16:creationId xmlns:a16="http://schemas.microsoft.com/office/drawing/2014/main" id="{84943805-D5C5-CA12-BA04-237632F9FC20}"/>
              </a:ext>
            </a:extLst>
          </p:cNvPr>
          <p:cNvSpPr txBox="1"/>
          <p:nvPr/>
        </p:nvSpPr>
        <p:spPr>
          <a:xfrm>
            <a:off x="427892" y="282552"/>
            <a:ext cx="9657538" cy="1474763"/>
          </a:xfrm>
          <a:prstGeom prst="rect">
            <a:avLst/>
          </a:prstGeom>
        </p:spPr>
        <p:txBody>
          <a:bodyPr wrap="square" lIns="0" tIns="0" rIns="0" bIns="0" rtlCol="0" anchor="t">
            <a:spAutoFit/>
          </a:bodyPr>
          <a:lstStyle/>
          <a:p>
            <a:pPr>
              <a:lnSpc>
                <a:spcPts val="11464"/>
              </a:lnSpc>
            </a:pPr>
            <a:r>
              <a:rPr lang="en-US" sz="9600" b="1" spc="-573">
                <a:solidFill>
                  <a:srgbClr val="424242"/>
                </a:solidFill>
                <a:latin typeface="Open Sauce Heavy"/>
                <a:sym typeface="Open Sauce Heavy"/>
              </a:rPr>
              <a:t>Future Work</a:t>
            </a:r>
            <a:endParaRPr lang="en-US"/>
          </a:p>
        </p:txBody>
      </p:sp>
      <p:sp>
        <p:nvSpPr>
          <p:cNvPr id="4" name="TextBox 3">
            <a:extLst>
              <a:ext uri="{FF2B5EF4-FFF2-40B4-BE49-F238E27FC236}">
                <a16:creationId xmlns:a16="http://schemas.microsoft.com/office/drawing/2014/main" id="{E34608AA-E146-2279-16F5-AD7E09A6BE68}"/>
              </a:ext>
            </a:extLst>
          </p:cNvPr>
          <p:cNvSpPr txBox="1"/>
          <p:nvPr/>
        </p:nvSpPr>
        <p:spPr>
          <a:xfrm>
            <a:off x="1017303" y="2380060"/>
            <a:ext cx="15553013"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ea typeface="+mn-lt"/>
                <a:cs typeface="+mn-lt"/>
              </a:rPr>
              <a:t>Runtime Traffic Integration: Enhance the static AST analysis by integrating with live APM tools (like Datadog or New Relic) to factor real-time network traffic and database load into the decomposition algorithms.</a:t>
            </a:r>
            <a:endParaRPr lang="en-US" sz="3200">
              <a:ea typeface="Calibri"/>
              <a:cs typeface="Calibri"/>
            </a:endParaRPr>
          </a:p>
          <a:p>
            <a:pPr marL="457200" indent="-457200">
              <a:buFont typeface="Arial"/>
              <a:buChar char="•"/>
            </a:pPr>
            <a:r>
              <a:rPr lang="en-US" sz="3200">
                <a:ea typeface="+mn-lt"/>
                <a:cs typeface="+mn-lt"/>
              </a:rPr>
              <a:t>Automated PR Generation: Move beyond generating downloadable .zip blueprints by directly integrating with GitHub/GitLab to automatically create Pull Requests for the proposed microservice boundaries.</a:t>
            </a:r>
            <a:endParaRPr lang="en-US" sz="3200">
              <a:ea typeface="Calibri"/>
              <a:cs typeface="Calibri"/>
            </a:endParaRPr>
          </a:p>
          <a:p>
            <a:pPr marL="457200" indent="-457200">
              <a:buFont typeface="Arial"/>
              <a:buChar char="•"/>
            </a:pPr>
            <a:r>
              <a:rPr lang="en-US" sz="3200">
                <a:ea typeface="+mn-lt"/>
                <a:cs typeface="+mn-lt"/>
              </a:rPr>
              <a:t>Expanded Language Support: Extend the AST parsing capabilities beyond the current supported languages to natively ingest Java, C#, and Go enterprise monoliths.</a:t>
            </a:r>
            <a:endParaRPr lang="en-US" sz="3200">
              <a:ea typeface="Calibri"/>
              <a:cs typeface="Calibri"/>
            </a:endParaRPr>
          </a:p>
          <a:p>
            <a:pPr marL="457200" indent="-457200">
              <a:buFont typeface="Arial"/>
              <a:buChar char="•"/>
            </a:pPr>
            <a:r>
              <a:rPr lang="en-US" sz="3200">
                <a:ea typeface="+mn-lt"/>
                <a:cs typeface="+mn-lt"/>
              </a:rPr>
              <a:t>Dynamic Cloud Pricing APIs: Connect directly to AWS/GCP/Azure pricing APIs for real-time, dynamic cost projections rather than relying on heuristic estimates.</a:t>
            </a:r>
            <a:endParaRPr lang="en-US" sz="3200">
              <a:ea typeface="Calibri"/>
              <a:cs typeface="Calibri"/>
            </a:endParaRPr>
          </a:p>
          <a:p>
            <a:pPr algn="l"/>
            <a:endParaRPr lang="en-US" sz="3200">
              <a:ea typeface="Calibri"/>
              <a:cs typeface="Calibri"/>
            </a:endParaRPr>
          </a:p>
        </p:txBody>
      </p:sp>
    </p:spTree>
    <p:extLst>
      <p:ext uri="{BB962C8B-B14F-4D97-AF65-F5344CB8AC3E}">
        <p14:creationId xmlns:p14="http://schemas.microsoft.com/office/powerpoint/2010/main" val="3035477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a:extLst>
            <a:ext uri="{FF2B5EF4-FFF2-40B4-BE49-F238E27FC236}">
              <a16:creationId xmlns:a16="http://schemas.microsoft.com/office/drawing/2014/main" id="{E53197F6-0695-784A-7958-70844DFAFF5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007D7A-9CAE-5BEF-691E-BE1EDEBEAB06}"/>
              </a:ext>
            </a:extLst>
          </p:cNvPr>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502C8A7C-5E01-C0EF-7DDD-C6D4A57F6D4C}"/>
              </a:ext>
            </a:extLst>
          </p:cNvPr>
          <p:cNvSpPr/>
          <p:nvPr/>
        </p:nvSpPr>
        <p:spPr>
          <a:xfrm rot="1925852">
            <a:off x="-2330235" y="2657262"/>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3">
              <a:alphaModFix amt="25000"/>
            </a:blip>
            <a:stretch>
              <a:fillRect/>
            </a:stretch>
          </a:blipFill>
        </p:spPr>
      </p:sp>
      <p:sp>
        <p:nvSpPr>
          <p:cNvPr id="5" name="Freeform 5">
            <a:extLst>
              <a:ext uri="{FF2B5EF4-FFF2-40B4-BE49-F238E27FC236}">
                <a16:creationId xmlns:a16="http://schemas.microsoft.com/office/drawing/2014/main" id="{53BC171E-8A43-7EAD-878B-A37D598B1F3C}"/>
              </a:ext>
            </a:extLst>
          </p:cNvPr>
          <p:cNvSpPr/>
          <p:nvPr/>
        </p:nvSpPr>
        <p:spPr>
          <a:xfrm>
            <a:off x="10343327" y="-1437860"/>
            <a:ext cx="12858845" cy="4933121"/>
          </a:xfrm>
          <a:custGeom>
            <a:avLst/>
            <a:gdLst/>
            <a:ahLst/>
            <a:cxnLst/>
            <a:rect l="l" t="t" r="r" b="b"/>
            <a:pathLst>
              <a:path w="12858845" h="4933121">
                <a:moveTo>
                  <a:pt x="0" y="0"/>
                </a:moveTo>
                <a:lnTo>
                  <a:pt x="12858845" y="0"/>
                </a:lnTo>
                <a:lnTo>
                  <a:pt x="12858845" y="4933120"/>
                </a:lnTo>
                <a:lnTo>
                  <a:pt x="0" y="4933120"/>
                </a:lnTo>
                <a:lnTo>
                  <a:pt x="0" y="0"/>
                </a:lnTo>
                <a:close/>
              </a:path>
            </a:pathLst>
          </a:custGeom>
          <a:blipFill>
            <a:blip r:embed="rId4">
              <a:alphaModFix amt="25000"/>
            </a:blip>
            <a:stretch>
              <a:fillRect/>
            </a:stretch>
          </a:blipFill>
        </p:spPr>
      </p:sp>
      <p:sp>
        <p:nvSpPr>
          <p:cNvPr id="26" name="TextBox 26">
            <a:extLst>
              <a:ext uri="{FF2B5EF4-FFF2-40B4-BE49-F238E27FC236}">
                <a16:creationId xmlns:a16="http://schemas.microsoft.com/office/drawing/2014/main" id="{A1C05450-56F3-E47A-1EF0-6735E68C9A19}"/>
              </a:ext>
            </a:extLst>
          </p:cNvPr>
          <p:cNvSpPr txBox="1"/>
          <p:nvPr/>
        </p:nvSpPr>
        <p:spPr>
          <a:xfrm>
            <a:off x="5967046" y="678206"/>
            <a:ext cx="6350458" cy="1474763"/>
          </a:xfrm>
          <a:prstGeom prst="rect">
            <a:avLst/>
          </a:prstGeom>
        </p:spPr>
        <p:txBody>
          <a:bodyPr lIns="0" tIns="0" rIns="0" bIns="0" rtlCol="0" anchor="t">
            <a:spAutoFit/>
          </a:bodyPr>
          <a:lstStyle/>
          <a:p>
            <a:pPr algn="ctr">
              <a:lnSpc>
                <a:spcPts val="11464"/>
              </a:lnSpc>
            </a:pPr>
            <a:r>
              <a:rPr lang="en-US" sz="9600" b="1" spc="-573">
                <a:solidFill>
                  <a:srgbClr val="424242"/>
                </a:solidFill>
                <a:latin typeface="Open Sauce Heavy"/>
                <a:sym typeface="Open Sauce Heavy"/>
              </a:rPr>
              <a:t>Conclusion</a:t>
            </a:r>
            <a:endParaRPr lang="en-US">
              <a:ea typeface="Calibri"/>
              <a:cs typeface="Calibri"/>
            </a:endParaRPr>
          </a:p>
        </p:txBody>
      </p:sp>
      <p:sp>
        <p:nvSpPr>
          <p:cNvPr id="6" name="TextBox 5">
            <a:extLst>
              <a:ext uri="{FF2B5EF4-FFF2-40B4-BE49-F238E27FC236}">
                <a16:creationId xmlns:a16="http://schemas.microsoft.com/office/drawing/2014/main" id="{5E553972-5A79-0D8D-4775-3F38D35D6403}"/>
              </a:ext>
            </a:extLst>
          </p:cNvPr>
          <p:cNvSpPr txBox="1"/>
          <p:nvPr/>
        </p:nvSpPr>
        <p:spPr>
          <a:xfrm>
            <a:off x="723850" y="2386752"/>
            <a:ext cx="17137660"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pPr>
            <a:r>
              <a:rPr lang="en-US" sz="3600">
                <a:ea typeface="+mn-lt"/>
                <a:cs typeface="+mn-lt"/>
              </a:rPr>
              <a:t>Data-Driven Decisions: </a:t>
            </a:r>
            <a:r>
              <a:rPr lang="en-US" sz="3600" err="1">
                <a:ea typeface="+mn-lt"/>
                <a:cs typeface="+mn-lt"/>
              </a:rPr>
              <a:t>MonoMELT</a:t>
            </a:r>
            <a:r>
              <a:rPr lang="en-US" sz="3600">
                <a:ea typeface="+mn-lt"/>
                <a:cs typeface="+mn-lt"/>
              </a:rPr>
              <a:t> removes the guesswork from legacy modernization by replacing human intuition with graph algorithms and AI-driven dependency mapping.</a:t>
            </a:r>
            <a:endParaRPr lang="en-US" sz="3600">
              <a:ea typeface="Calibri"/>
              <a:cs typeface="Calibri"/>
            </a:endParaRPr>
          </a:p>
          <a:p>
            <a:pPr marL="571500" indent="-571500">
              <a:buFont typeface="Arial"/>
              <a:buChar char="•"/>
            </a:pPr>
            <a:r>
              <a:rPr lang="en-US" sz="3600">
                <a:ea typeface="+mn-lt"/>
                <a:cs typeface="+mn-lt"/>
              </a:rPr>
              <a:t>End-to-End Strategic Alignment: We don't just split code; we generate a cohesive strategy that aligns technical boundaries with organizational structures and projects the financial impact.</a:t>
            </a:r>
            <a:endParaRPr lang="en-US" sz="3600">
              <a:ea typeface="Calibri"/>
              <a:cs typeface="Calibri"/>
            </a:endParaRPr>
          </a:p>
          <a:p>
            <a:pPr marL="571500" indent="-571500">
              <a:buFont typeface="Arial"/>
              <a:buChar char="•"/>
            </a:pPr>
            <a:r>
              <a:rPr lang="en-US" sz="3600">
                <a:ea typeface="+mn-lt"/>
                <a:cs typeface="+mn-lt"/>
              </a:rPr>
              <a:t>Accelerated Modernization: By automating the blueprinting and Infrastructure-as-Code (Terraform) generation, transformation planning is reduced from months of architectural debate to a matter of minutes.</a:t>
            </a:r>
            <a:endParaRPr lang="en-US" sz="3600">
              <a:ea typeface="Calibri"/>
              <a:cs typeface="Calibri"/>
            </a:endParaRPr>
          </a:p>
          <a:p>
            <a:pPr marL="571500" indent="-571500">
              <a:buFont typeface="Arial"/>
              <a:buChar char="•"/>
            </a:pPr>
            <a:r>
              <a:rPr lang="en-US" sz="3600">
                <a:ea typeface="+mn-lt"/>
                <a:cs typeface="+mn-lt"/>
              </a:rPr>
              <a:t>The Bottom Line: </a:t>
            </a:r>
            <a:r>
              <a:rPr lang="en-US" sz="3600" err="1">
                <a:ea typeface="+mn-lt"/>
                <a:cs typeface="+mn-lt"/>
              </a:rPr>
              <a:t>MonoMELT</a:t>
            </a:r>
            <a:r>
              <a:rPr lang="en-US" sz="3600">
                <a:ea typeface="+mn-lt"/>
                <a:cs typeface="+mn-lt"/>
              </a:rPr>
              <a:t> acts as an intelligent co-pilot, ensuring that the leap from a risky monolith to a scalable microservices architecture is safe, cost-effective, and mathematically sound.</a:t>
            </a:r>
            <a:endParaRPr lang="en-US" sz="3600">
              <a:ea typeface="Calibri"/>
              <a:cs typeface="Calibri"/>
            </a:endParaRPr>
          </a:p>
        </p:txBody>
      </p:sp>
    </p:spTree>
    <p:extLst>
      <p:ext uri="{BB962C8B-B14F-4D97-AF65-F5344CB8AC3E}">
        <p14:creationId xmlns:p14="http://schemas.microsoft.com/office/powerpoint/2010/main" val="133664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rot="19622799">
            <a:off x="7598740" y="-405377"/>
            <a:ext cx="12791303" cy="9442307"/>
          </a:xfrm>
          <a:custGeom>
            <a:avLst/>
            <a:gdLst/>
            <a:ahLst/>
            <a:cxnLst/>
            <a:rect l="l" t="t" r="r" b="b"/>
            <a:pathLst>
              <a:path w="12791303" h="9442307">
                <a:moveTo>
                  <a:pt x="0" y="0"/>
                </a:moveTo>
                <a:lnTo>
                  <a:pt x="12791302" y="0"/>
                </a:lnTo>
                <a:lnTo>
                  <a:pt x="12791302" y="9442307"/>
                </a:lnTo>
                <a:lnTo>
                  <a:pt x="0" y="9442307"/>
                </a:lnTo>
                <a:lnTo>
                  <a:pt x="0" y="0"/>
                </a:lnTo>
                <a:close/>
              </a:path>
            </a:pathLst>
          </a:custGeom>
          <a:blipFill>
            <a:blip r:embed="rId2">
              <a:alphaModFix amt="42000"/>
            </a:blip>
            <a:stretch>
              <a:fillRect/>
            </a:stretch>
          </a:blipFill>
        </p:spPr>
      </p:sp>
      <p:sp>
        <p:nvSpPr>
          <p:cNvPr id="3" name="Freeform 3"/>
          <p:cNvSpPr/>
          <p:nvPr/>
        </p:nvSpPr>
        <p:spPr>
          <a:xfrm rot="-10659522">
            <a:off x="-1466084" y="-1104127"/>
            <a:ext cx="6017764" cy="3599717"/>
          </a:xfrm>
          <a:custGeom>
            <a:avLst/>
            <a:gdLst/>
            <a:ahLst/>
            <a:cxnLst/>
            <a:rect l="l" t="t" r="r" b="b"/>
            <a:pathLst>
              <a:path w="6017764" h="3599717">
                <a:moveTo>
                  <a:pt x="0" y="0"/>
                </a:moveTo>
                <a:lnTo>
                  <a:pt x="6017764" y="0"/>
                </a:lnTo>
                <a:lnTo>
                  <a:pt x="6017764" y="3599717"/>
                </a:lnTo>
                <a:lnTo>
                  <a:pt x="0" y="3599717"/>
                </a:lnTo>
                <a:lnTo>
                  <a:pt x="0" y="0"/>
                </a:lnTo>
                <a:close/>
              </a:path>
            </a:pathLst>
          </a:custGeom>
          <a:blipFill>
            <a:blip r:embed="rId3">
              <a:alphaModFix amt="12000"/>
            </a:blip>
            <a:stretch>
              <a:fillRect/>
            </a:stretch>
          </a:blipFill>
        </p:spPr>
      </p:sp>
      <p:sp>
        <p:nvSpPr>
          <p:cNvPr id="4" name="Freeform 4"/>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043354" y="3121069"/>
            <a:ext cx="9672886" cy="6055133"/>
          </a:xfrm>
          <a:prstGeom prst="rect">
            <a:avLst/>
          </a:prstGeom>
        </p:spPr>
        <p:txBody>
          <a:bodyPr lIns="0" tIns="0" rIns="0" bIns="0" rtlCol="0" anchor="t">
            <a:spAutoFit/>
          </a:bodyPr>
          <a:lstStyle/>
          <a:p>
            <a:pPr algn="l">
              <a:lnSpc>
                <a:spcPts val="23095"/>
              </a:lnSpc>
            </a:pPr>
            <a:r>
              <a:rPr lang="en-US" sz="24569" b="1" spc="-1154">
                <a:solidFill>
                  <a:srgbClr val="424242"/>
                </a:solidFill>
                <a:latin typeface="Open Sauce Heavy"/>
                <a:ea typeface="Open Sauce Heavy"/>
                <a:cs typeface="Open Sauce Heavy"/>
                <a:sym typeface="Open Sauce Heavy"/>
              </a:rPr>
              <a:t>Thank You</a:t>
            </a:r>
          </a:p>
        </p:txBody>
      </p:sp>
      <p:sp>
        <p:nvSpPr>
          <p:cNvPr id="6" name="AutoShape 6"/>
          <p:cNvSpPr/>
          <p:nvPr/>
        </p:nvSpPr>
        <p:spPr>
          <a:xfrm>
            <a:off x="1045163" y="1480091"/>
            <a:ext cx="16214137" cy="0"/>
          </a:xfrm>
          <a:prstGeom prst="line">
            <a:avLst/>
          </a:prstGeom>
          <a:ln w="19050" cap="flat">
            <a:solidFill>
              <a:srgbClr val="424242"/>
            </a:solidFill>
            <a:prstDash val="solid"/>
            <a:headEnd type="none" w="sm" len="sm"/>
            <a:tailEnd type="none" w="sm" len="sm"/>
          </a:ln>
        </p:spPr>
      </p:sp>
      <p:sp>
        <p:nvSpPr>
          <p:cNvPr id="7" name="Freeform 7"/>
          <p:cNvSpPr/>
          <p:nvPr/>
        </p:nvSpPr>
        <p:spPr>
          <a:xfrm>
            <a:off x="953566" y="647822"/>
            <a:ext cx="644940" cy="644940"/>
          </a:xfrm>
          <a:custGeom>
            <a:avLst/>
            <a:gdLst/>
            <a:ahLst/>
            <a:cxnLst/>
            <a:rect l="l" t="t" r="r" b="b"/>
            <a:pathLst>
              <a:path w="644940" h="644940">
                <a:moveTo>
                  <a:pt x="0" y="0"/>
                </a:moveTo>
                <a:lnTo>
                  <a:pt x="644939" y="0"/>
                </a:lnTo>
                <a:lnTo>
                  <a:pt x="644939" y="644940"/>
                </a:lnTo>
                <a:lnTo>
                  <a:pt x="0" y="64494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TextBox 12"/>
          <p:cNvSpPr txBox="1"/>
          <p:nvPr/>
        </p:nvSpPr>
        <p:spPr>
          <a:xfrm>
            <a:off x="1675526" y="650408"/>
            <a:ext cx="3985713" cy="587954"/>
          </a:xfrm>
          <a:prstGeom prst="rect">
            <a:avLst/>
          </a:prstGeom>
        </p:spPr>
        <p:txBody>
          <a:bodyPr lIns="0" tIns="0" rIns="0" bIns="0" rtlCol="0" anchor="t">
            <a:spAutoFit/>
          </a:bodyPr>
          <a:lstStyle/>
          <a:p>
            <a:pPr>
              <a:lnSpc>
                <a:spcPts val="4868"/>
              </a:lnSpc>
            </a:pPr>
            <a:r>
              <a:rPr lang="en-US" sz="3450" b="1" spc="-163">
                <a:solidFill>
                  <a:srgbClr val="424242"/>
                </a:solidFill>
                <a:latin typeface="Open Sauce Heavy"/>
                <a:sym typeface="Open Sauce Heavy"/>
              </a:rPr>
              <a:t>Team C7</a:t>
            </a:r>
            <a:endParaRPr lang="en-US"/>
          </a:p>
        </p:txBody>
      </p:sp>
      <p:sp>
        <p:nvSpPr>
          <p:cNvPr id="13" name="TextBox 13"/>
          <p:cNvSpPr txBox="1"/>
          <p:nvPr/>
        </p:nvSpPr>
        <p:spPr>
          <a:xfrm>
            <a:off x="12270492" y="944964"/>
            <a:ext cx="3450154" cy="294953"/>
          </a:xfrm>
          <a:prstGeom prst="rect">
            <a:avLst/>
          </a:prstGeom>
        </p:spPr>
        <p:txBody>
          <a:bodyPr lIns="0" tIns="0" rIns="0" bIns="0" rtlCol="0" anchor="t">
            <a:spAutoFit/>
          </a:bodyPr>
          <a:lstStyle/>
          <a:p>
            <a:pPr algn="r">
              <a:lnSpc>
                <a:spcPts val="2268"/>
              </a:lnSpc>
            </a:pPr>
            <a:r>
              <a:rPr lang="en-US" sz="2000" b="1" spc="-100">
                <a:solidFill>
                  <a:srgbClr val="424242"/>
                </a:solidFill>
                <a:latin typeface="Open Sauce Bold"/>
                <a:ea typeface="Open Sauce Bold"/>
                <a:cs typeface="Open Sauce Bold"/>
                <a:sym typeface="Open Sauce Bold"/>
              </a:rPr>
              <a:t>Presented by :</a:t>
            </a:r>
            <a:endParaRPr lang="en-US" sz="2000" b="1" spc="-100">
              <a:solidFill>
                <a:srgbClr val="424242"/>
              </a:solidFill>
              <a:latin typeface="Open Sauce Bold"/>
              <a:ea typeface="Open Sauce Bold"/>
              <a:cs typeface="Open Sauce Bold"/>
            </a:endParaRPr>
          </a:p>
        </p:txBody>
      </p:sp>
      <p:sp>
        <p:nvSpPr>
          <p:cNvPr id="14" name="TextBox 14"/>
          <p:cNvSpPr txBox="1"/>
          <p:nvPr/>
        </p:nvSpPr>
        <p:spPr>
          <a:xfrm>
            <a:off x="13809146" y="920227"/>
            <a:ext cx="3450154" cy="322781"/>
          </a:xfrm>
          <a:prstGeom prst="rect">
            <a:avLst/>
          </a:prstGeom>
        </p:spPr>
        <p:txBody>
          <a:bodyPr lIns="0" tIns="0" rIns="0" bIns="0" rtlCol="0" anchor="t">
            <a:spAutoFit/>
          </a:bodyPr>
          <a:lstStyle/>
          <a:p>
            <a:pPr algn="r">
              <a:lnSpc>
                <a:spcPts val="2520"/>
              </a:lnSpc>
            </a:pPr>
            <a:r>
              <a:rPr lang="en-US" sz="2200" spc="-112" err="1">
                <a:solidFill>
                  <a:srgbClr val="424242"/>
                </a:solidFill>
                <a:latin typeface="Open Sauce"/>
                <a:sym typeface="Open Sauce"/>
              </a:rPr>
              <a:t>TetraFourge</a:t>
            </a:r>
            <a:endParaRPr lang="en-US" sz="2200">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and Grey Modern Startup Pitch Deck Presentation</dc:title>
  <cp:revision>4</cp:revision>
  <dcterms:created xsi:type="dcterms:W3CDTF">2006-08-16T00:00:00Z</dcterms:created>
  <dcterms:modified xsi:type="dcterms:W3CDTF">2026-09-28T15:16:13Z</dcterms:modified>
  <dc:identifier>DAHShBPZb-o</dc:identifier>
</cp:coreProperties>
</file>